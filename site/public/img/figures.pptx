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同じ40Lで、1〜2泊 から 4泊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6社の公表目安を横に並べたもの。棒の左端が最短、右端が最長の泊数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40Lの目安の開き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2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1泊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1975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2泊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85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3泊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725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4泊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5泊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300" y="19050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4574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30099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5623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1148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46672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0" y="20097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0097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Legend Walker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15050" y="20097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1〜2泊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1350" y="20288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27〜41Lの帯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00750" y="256222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5622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25622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0100" y="25812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30〜49Lの帯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00750" y="31146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1146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ニトリ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1146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20100" y="31337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40L製品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00750" y="366712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6671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無印良品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36671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0100" y="36861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36L製品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29500" y="42195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2195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RIMOWA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72550" y="42195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3〜4泊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48850" y="42386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36〜37L製品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91575" y="4772025"/>
            <a:ext cx="1333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850" y="47720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サムソナイト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9225" y="47720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15525" y="47910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1泊＝10Lで計算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泊数は容量から決まらず、社ごとの目安です。60L以上は各社4〜7泊に収まります。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メーカー公表の目安です（実測ではありません）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開口100cmは、本体では届かない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公表の取付幅レンジに当てると、カトージは外れ、日本育児はワイドS側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カトージの最大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95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99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814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29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44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59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14950" y="1714500"/>
            <a:ext cx="19050" cy="27432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17716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438400"/>
            <a:ext cx="10439400" cy="5905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105150"/>
            <a:ext cx="10439400" cy="5905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105150"/>
            <a:ext cx="47625" cy="5905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771900"/>
            <a:ext cx="10439400" cy="5905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29000" y="1924050"/>
            <a:ext cx="13716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日本育児（本体）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67〜91cm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4900" y="19240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本体では届かない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00600" y="2590800"/>
            <a:ext cx="13716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55270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日本育児＋ワイドS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280035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91〜115cm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0" y="25908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ワイドパネルS側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9000" y="3257550"/>
            <a:ext cx="16002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2194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カトージ LDK-STYLEⅡ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34671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〜95cm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3500" y="32575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最大95で外れる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00600" y="3924300"/>
            <a:ext cx="7429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388620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リッチェル＋拡張1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413385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91〜104cm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7850" y="39243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拡張1本側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「対応幅」見出しではなく、パーツごとの取付幅レンジで判定します。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全列○は PROTECA 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メーカー外寸を ANA/JAL・100席未満・Peach・Jetstar に当てた結果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ANA/JALの和上限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575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≥100席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＜100席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25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Peach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050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Jetstar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300" y="1866900"/>
            <a:ext cx="10439400" cy="4381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2381250"/>
            <a:ext cx="10439400" cy="4381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381250"/>
            <a:ext cx="47625" cy="4381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895600"/>
            <a:ext cx="10439400" cy="4381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409950"/>
            <a:ext cx="10439400" cy="4381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924300"/>
            <a:ext cx="10439400" cy="4381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19812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パリセイド3-Z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9575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225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050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24955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スタリアCXR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575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7225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050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EDGELINK（通常）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9575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400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7225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050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35242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EDGELINK（拡張）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9575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3400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7225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1050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40386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5516-48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9575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3400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225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050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「機内持ち込み対応」でも、Jetstarと100席未満で落ちる製品が多いです。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3辺和の差は 6〜11cm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公式併記の本体サイズと外寸／全体。差の主因は高さ（キャスター＋ハンドル）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いちばん大きい差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8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25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769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13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57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0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28765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000500" y="1905000"/>
            <a:ext cx="27432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19050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スタリアCXR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190500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6cm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00500" y="2457450"/>
            <a:ext cx="36576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24574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ポケットライナー2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45745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8cm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009900"/>
            <a:ext cx="50292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5516-48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300990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11cm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00500" y="3562350"/>
            <a:ext cx="4572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35623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フレットボード 68L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356235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10cm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00500" y="4114800"/>
            <a:ext cx="41148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41148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フレットボード 100L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411480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9cm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判定に使うのは外寸／全体（キャスター・ハンドル込み）。本体サイズではありません。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拡張で増えるのは奥行だけ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高さ・幅は0。3辺和の増分も奥行と同じ 4〜7cm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いちばん大きい増分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8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5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2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000500" y="190500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9050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 CRUZBOX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1800" y="19050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+4cm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4750" y="192405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114→118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245745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4574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フレスターEX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24574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+4cm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24750" y="247650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115→119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00990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クレスタ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1800" y="30099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+4cm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24750" y="302895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115→119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00500" y="3562350"/>
            <a:ext cx="33337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35623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5109-46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48550" y="35623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+5cm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1500" y="358140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115→120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00500" y="4114800"/>
            <a:ext cx="46672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1148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5525-48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82050" y="41148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+7cm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5000" y="413385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115→122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機内持ち込み帯（114〜115）は拡張後118〜122。預け入れ天井帯も超え得ます。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同じ157帯でも 68L〜100L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総外寸158cm以内は預け入れの帯。容量（L）の代理ではありません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157帯の上限側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100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7225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7685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6475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96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10000" y="1905000"/>
            <a:ext cx="6477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8669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ace フレットボード 68L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0955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151cm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19050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68L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0000" y="2457450"/>
            <a:ext cx="170021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Legend Walker 5516-70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26479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155cm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4512" y="24574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81L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10000" y="3009900"/>
            <a:ext cx="2185988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2971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Legend Walker 5528-70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32004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157cm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10288" y="30099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87L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10000" y="3562350"/>
            <a:ext cx="275272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35242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Samsonite シーライト75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37528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157cm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7025" y="35623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94L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10000" y="4114800"/>
            <a:ext cx="3238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767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ace フレットボード 100L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157cm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2800" y="41148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100L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151cmの68Lから158cmの100Lまで。総外寸が近くても容量は約1.5倍開きます。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機内持込級は、特大の手前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東海道・山陽・九州・西九州の特大荷物は3辺和160cm超。照合5製品はすべて以下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特大のしきい値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160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8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0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2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24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6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180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29000" y="1905000"/>
            <a:ext cx="952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9050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パリセイド3-Z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5800" y="19050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115cm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2457450"/>
            <a:ext cx="3429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24574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スタリアCXR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24574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99cm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29000" y="3009900"/>
            <a:ext cx="9144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0099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EDGELINK（通常）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7700" y="30099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114cm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29000" y="3562350"/>
            <a:ext cx="10668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35623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EDGELINK（拡張）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0100" y="35623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118cm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29000" y="4114800"/>
            <a:ext cx="952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41148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5516-48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5800" y="41148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115cm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航空機では落ちる外寸でも、新幹線の160までは余裕があります。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レール195cmは、幅100×2不足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必要仕上がり幅＝レール×1.05。合計200の既製両開きに当てた結果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幅100×2の限界超え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195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0" y="1714500"/>
            <a:ext cx="19050" cy="2838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8750" y="1543050"/>
            <a:ext cx="10477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014172"/>
                </a:solidFill>
                <a:latin typeface="Yu Gothic UI"/>
              </a:rPr>
              <a:t>既製合計200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42900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29000" y="1905000"/>
            <a:ext cx="6477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19050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レール170cm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190500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必要178.5 → 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2457450"/>
            <a:ext cx="14478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24574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レール180cm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1100" y="245745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必要189 → 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3009900"/>
            <a:ext cx="22479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30099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レール190cm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1200" y="300990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必要199.5 → 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29000" y="3562350"/>
            <a:ext cx="265176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5623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レール195cm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5060" y="356235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必要204.8 → 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29000" y="4114800"/>
            <a:ext cx="3048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41148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レール200cm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91300" y="411480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必要210 → 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丈は床ルール次第。ニトリ式（床−1）と無印式（床−2）で178／200の向きが分かれます。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450mmすき間に入る幅は限られる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想定すき間幅450mmに、公表の本体幅Wを当てた結果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いちばん細い本体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310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39188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2938" y="1543050"/>
            <a:ext cx="1143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すき間450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10000" y="1905000"/>
            <a:ext cx="602456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190500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NP-TH5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9812" y="19050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550mm × 450すき間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0" y="2457450"/>
            <a:ext cx="514826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245745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NP-TCR5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3512" y="24574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470mm × 450すき間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009900"/>
            <a:ext cx="46005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300990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DWS-33B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5825" y="30099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420mm ○ 420幅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10000" y="3562350"/>
            <a:ext cx="46005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56235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 ISHT-5000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5825" y="35623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420mm ○ 420幅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0000" y="4114800"/>
            <a:ext cx="339566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411480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NP-TML1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00912" y="41148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310mm ○ 310幅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閉時奥行は全機種とも想定カウンター600mmに収まります。ドア全開奥行は機種で差が出ます。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奥行745mmで、余りは55mm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想定通路幅800mm − 本体奥行。曲がり角は含まない引き算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800mm通路の余り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62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650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250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87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750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800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05500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810000" y="1905000"/>
            <a:ext cx="190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18669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NR-C37WS2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0955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600mm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19050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200mm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10000" y="2457450"/>
            <a:ext cx="4762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SJ-MF51R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26479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630mm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0550" y="24574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170mm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0000" y="3009900"/>
            <a:ext cx="11334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2971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NR-F55WX3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32004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699mm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57775" y="30099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101mm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10000" y="3562350"/>
            <a:ext cx="15049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9600" y="35242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三菱 MR-WZ61N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37528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738mm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29250" y="35623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62mm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10000" y="4114800"/>
            <a:ext cx="157162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40767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GR-W600FZS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43053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745mm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95925" y="41148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55mm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容量Lではなく本体奥行で判定。メーカーの「幅＋約10cm」は直立搬入の別軸です。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扉は本体の横へ最大361mm出る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左右あきは各5mmで同じ。違うのは扉を開けたときの横張り出し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横張り出しの最大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361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771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10000" y="1905000"/>
            <a:ext cx="481393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18669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NR-F55WX3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20955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685mm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8235" y="19050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361mm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2457450"/>
            <a:ext cx="40671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SJ-MF55R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26479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730mm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91475" y="24574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305mm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009900"/>
            <a:ext cx="401383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2971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GR-W600FZS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32004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685mm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38135" y="30099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301mm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3562350"/>
            <a:ext cx="358711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35242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三菱 MR-WZ61N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37528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685mm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1415" y="35623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269mm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4114800"/>
            <a:ext cx="313372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40767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日立 R-HZC54Y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43053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650mm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58025" y="41148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約235mm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壁際で扉が十分に開かないときは、壁から10〜20mm（機種による）。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天板55mmで、上限50は外れる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公表クランプ可能厚に天板厚を当てる。耐荷重やインチではない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サンワ50上限が外れる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7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34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7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90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19875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4125" y="1543050"/>
            <a:ext cx="762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天板55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1771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619500" y="190500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190500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サンワ CR-LAC1405BK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1750" y="190500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10〜50mm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19500" y="245745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245745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サンワ CR-LAC116BK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1750" y="245745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10〜50mm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9500" y="3009900"/>
            <a:ext cx="33337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Ergotron LX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0" y="300990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10〜60mm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19500" y="3562350"/>
            <a:ext cx="46672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356235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エレコム DPA-SN01BK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0" y="356235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10〜80mm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86250" y="4114800"/>
            <a:ext cx="46005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411480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HUANUO SS43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2075" y="411480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20〜89mm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○は天板厚が公表クランプ可能厚レンジに入るときだけです。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Lは高いが、奥行は浅い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カーメイト バイアスロンのケース外寸。品番が大きい＝全部が大きい、ではない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LがMより浅い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1619250"/>
            <a:ext cx="2667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高さ 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33500" y="2000250"/>
            <a:ext cx="3429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20002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2600" y="20002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124mm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33500" y="2667000"/>
            <a:ext cx="6000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2500" y="266700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9775" y="266700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139mm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33500" y="3333750"/>
            <a:ext cx="10972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500" y="33337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06980" y="33337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168mm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1619250"/>
            <a:ext cx="2667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幅 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1500" y="2000250"/>
            <a:ext cx="1047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00500" y="20002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2475" y="20002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524mm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1500" y="2667000"/>
            <a:ext cx="1833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00500" y="266700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1056" y="266700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539mm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1500" y="3333750"/>
            <a:ext cx="1833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00500" y="33337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1056" y="33337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539mm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0" y="1619250"/>
            <a:ext cx="2667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奥行 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29500" y="2000250"/>
            <a:ext cx="2667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8500" y="20002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20002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401mm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29500" y="2667000"/>
            <a:ext cx="46672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8500" y="266700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72425" y="266700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431mm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29500" y="3333750"/>
            <a:ext cx="1333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0" y="33337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9050" y="33337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381mm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ヤリス公表荷室（長630×幅1,000×高692）には S／M／Lいずれも1ケースは収まります。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同じ9号でも、容量は1.45倍ちがう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銀峯陶器18製品の公表値。濃い色が下限、薄い色までが号数ごとのはば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9号のなかで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8097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76500"/>
            <a:ext cx="10439400" cy="5905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10000"/>
            <a:ext cx="10439400" cy="5905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10000"/>
            <a:ext cx="47625" cy="5905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767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81250" y="1962150"/>
            <a:ext cx="109728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381250" y="1962150"/>
            <a:ext cx="73152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9621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19621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0.6〜0.9ℓ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4500" y="19621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1人前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81250" y="2628900"/>
            <a:ext cx="182880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381250" y="2628900"/>
            <a:ext cx="121920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62890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0" y="262890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1.0〜1.5ℓ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4500" y="262890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1〜2人前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81250" y="3295650"/>
            <a:ext cx="268224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381250" y="3295650"/>
            <a:ext cx="182880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956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0" y="32956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1.5〜2.2ℓ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0" y="32956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1〜3人前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81250" y="3962400"/>
            <a:ext cx="390144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381250" y="3962400"/>
            <a:ext cx="268224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6240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0" y="396240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2.2〜3.2ℓ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34500" y="396240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2〜5人前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81250" y="4629150"/>
            <a:ext cx="487680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381250" y="4629150"/>
            <a:ext cx="353568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0000" y="46291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2.9〜4.0ℓ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4500" y="46291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3〜6人前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号数が決めているのは口径だけで、容量と人数は決めていません。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同じ9号で、2〜3人前 と 4〜5人前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銀峯陶器の公表値。口径の差は0.5cmしかありません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容量の差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667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66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47950"/>
            <a:ext cx="10439400" cy="666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90900"/>
            <a:ext cx="10439400" cy="6667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133850"/>
            <a:ext cx="10439400" cy="666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00500" y="2076450"/>
            <a:ext cx="2200275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0025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墨貫入 9号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口径28cm ／ 高さ15cm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4125" y="207645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2.2ℓ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0" y="207645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2〜3人前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00500" y="2819400"/>
            <a:ext cx="2700338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74320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菊花 9号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3009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口径28.5cm ／ 高さ15.5cm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4188" y="281940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2.7ℓ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5000" y="281940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3〜4人前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3562350"/>
            <a:ext cx="3000375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48615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菊花 深型 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7528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口径28.5cm ／ 高さ17cm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4225" y="356235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3.0ℓ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0" y="356235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4〜5人前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00500" y="4305300"/>
            <a:ext cx="3200400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422910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花三島 9号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850" y="44958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口径28cm ／ 高さ16cm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34250" y="430530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3.2ℓ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430530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4〜5人前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口径が同じでも、深さが違えば入る量が変わります。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広げると、奥行が最大14.5倍になります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濃い色がしまうとき、薄い色が広げたとき。メーカー公表の寸法から計算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いちばん差が大きい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14.5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574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290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514850"/>
            <a:ext cx="10439400" cy="6096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514850"/>
            <a:ext cx="47625" cy="6096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76650" y="1895475"/>
            <a:ext cx="75590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76650" y="18954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SE-3a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31cm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4954" y="18954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1.7倍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76650" y="2581275"/>
            <a:ext cx="160934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76650" y="25812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850" y="28194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66cm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8394" y="25812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3.7倍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76650" y="3267075"/>
            <a:ext cx="2633472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76650" y="3267075"/>
            <a:ext cx="414528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575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RHB-18a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35052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17cm → 108cm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2522" y="32670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6.4倍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76650" y="3952875"/>
            <a:ext cx="2535936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76650" y="3952875"/>
            <a:ext cx="234086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433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EFA-11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1910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9.6cm → 104cm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986" y="39528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10.8倍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76650" y="4638675"/>
            <a:ext cx="6096000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676650" y="4638675"/>
            <a:ext cx="419405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8768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17.2cm → 250cm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5050" y="46386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14.5倍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薄くしまえるものほど、広げたときの差が大きくなります。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広げても幅は変わりません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を上から見た図。伸びるのは奥行だけ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奥行だけが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17cm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019300"/>
            <a:ext cx="1535430" cy="2674620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43000" y="2019300"/>
            <a:ext cx="1535430" cy="421005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82727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破線まで広がります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広げたとき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108cm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95750" y="2019300"/>
            <a:ext cx="1535430" cy="26746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77000" y="1885950"/>
            <a:ext cx="4152900" cy="1352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0" y="21336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奥行だけが伸びます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0" y="24384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17cm → 108cm（6.4倍）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27241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幅は 62cm のまま変わりません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7000" y="3486150"/>
            <a:ext cx="4152900" cy="11620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>
            <a:outerShdw blurRad="177800" dist="38100" dir="5400000" rotWithShape="0">
              <a:srgbClr val="0B2B45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0" y="36766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いちばん差が大きいのは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394335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500" y="42291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17.2cm → 250cm（14.5倍）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しまう場所と広げる場所は、別々に測ってください。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薄くしまえることと、狭い場所で使えることは別の話です。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500mlは何本入る？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容量Lではなく「内寸」で決まります。同じ20Lでも15本と18本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20Lに丸型なら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0" y="2038350"/>
            <a:ext cx="3566160" cy="201168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34000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60364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6728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13092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39456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34000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60364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6728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13092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39456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34000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60364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6728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13092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839456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0" y="17526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 22 × 39cm ／ 丸型 68.5φ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418338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灰色は割り切れずに捨てられる余り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0002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床に並ぶ数で決まります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495550"/>
            <a:ext cx="4000500" cy="571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34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143250"/>
            <a:ext cx="4000500" cy="9144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7250" y="3333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同じ20Lでも 15本 と 18本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250" y="3638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容量Lは中身の広さを表していません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容量Lではなく、内寸の掛け算で決まります。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2Lペットボトルは立てて入る？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10〜25Lには、まず立ちません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6250" y="2333625"/>
            <a:ext cx="2286000" cy="242887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066925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内寸の深さ 255mm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1847850"/>
            <a:ext cx="914400" cy="291465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57750" y="48958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2Lボトル 全高 306mm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57750" y="1847850"/>
            <a:ext cx="914400" cy="485775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0" y="1905000"/>
            <a:ext cx="2857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51mm はみ出す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9500" y="2038350"/>
            <a:ext cx="32004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0" y="2247900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1.5L も同じ高さです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0" y="2552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容量が減った分、細くなる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28194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だけで背は変わりません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10〜25Lのクーラーボックスには、まず立ちません。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同じ26Lクラス。深さが1.5倍ちがう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内寸を横から見た図。橙は2Lペットボトル（全高306mm）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深さの差が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1895475"/>
            <a:ext cx="2476500" cy="286702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9550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875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深さ 350mm ／ 2Lが立つ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ダイワ PV-REX 2800（28L）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2837498"/>
            <a:ext cx="2476500" cy="192500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275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深さ 235mm ／ 2Lは立たない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750" y="1970151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2Lの高さ 306mm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同じ容量表示でも、深さは1.5倍ちがいます。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80L と 60L。長さは同じ 85cm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トランクマスター の内寸を横から見た図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長辺はどちらも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85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7145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80L　トランクマスターHD III 8000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2000250"/>
            <a:ext cx="4371975" cy="1620203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1225" y="20383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1225" y="2343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31.5cm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8750" y="34290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60L　トランクマスターHD II 6000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28750" y="3714750"/>
            <a:ext cx="4371975" cy="120872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91225" y="37528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1225" y="40576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23.5cm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容量が増えても長さは同じ。増えるのは深さです。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「20L」は何の20L？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外寸の体積のうち、中身に使えるのは 28.9〜40.0%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46Lの箱で使えるのは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038350"/>
            <a:ext cx="3857625" cy="264033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48765" y="2578418"/>
            <a:ext cx="2588895" cy="1560195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52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アイリスオーヤマ HUGEL 15L を上から見た床面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12030"/>
            <a:ext cx="5334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外寸 45.0 × 30.8cm ／ 内寸 30.2 × 18.2cm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5500" y="20383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外寸で測ると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0" y="236220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2E2E33"/>
                </a:solidFill>
                <a:latin typeface="Yu Gothic UI"/>
              </a:rPr>
              <a:t>46</a:t>
            </a:r>
            <a:r>
              <a:rPr sz="1800" b="1">
                <a:solidFill>
                  <a:srgbClr val="2E2E33"/>
                </a:solidFill>
                <a:latin typeface="Yu Gothic UI"/>
              </a:rPr>
              <a:t> L の箱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5500" y="30480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中身に使えるのは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5500" y="337185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 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05500" y="3981450"/>
            <a:ext cx="4000500" cy="59055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6950" y="4152900"/>
            <a:ext cx="361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公表容量は 15L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外寸で測った体積のうち、中に入るのは 28.9〜40.0% 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保冷剤を入れると 500ml は何本減る？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／ 保冷剤なしなら18本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床に寝かせる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A8410F"/>
                </a:solidFill>
                <a:latin typeface="Yu Gothic UI"/>
              </a:rPr>
              <a:t>6</a:t>
            </a:r>
            <a:r>
              <a:rPr sz="225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保冷剤が床を占めます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並べられる列が減ります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885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650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壁に立てかける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22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本数は減りません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壁に立てれば床が空きます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同じ箱・同じ保冷剤でも、置き方で 6本 と 18本 に分かれます。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メーカー公表の内寸と保冷剤11製品の公表寸法から計算（実測ではありません）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保冷剤は何枚まで入るか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氷点下パックM（196×138×厚26mm）／ 500ml角型を減らさない枚数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いちばん多くて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057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438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819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200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581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962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343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4724400"/>
            <a:ext cx="10439400" cy="3048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724400"/>
            <a:ext cx="47625" cy="3048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1714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S1000X（10L）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76750" y="1733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10200" y="1714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095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15L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2114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0" y="2095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2476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S1500（15L）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3400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7450" y="2476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2857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7675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3400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7450" y="2857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3238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ハイパーL（20L）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767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3400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912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24700" y="3238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3619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20L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767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340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912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0485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81950" y="3619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000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767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340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912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0485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81950" y="4000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850" y="4381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S2500（25L）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76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334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1912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0485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905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763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6450" y="4381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6枚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40L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476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334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191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0485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905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763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620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53700" y="4762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7枚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同じ「入る」でも、製品で1枚と7枚に分かれます。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ダイワ「KEEP」と シマノ「COOL」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名前は違っても、同じ物差しでした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測り方は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同じ</a:t>
            </a:r>
            <a:r>
              <a:rPr sz="1950" b="1">
                <a:solidFill>
                  <a:srgbClr val="014172"/>
                </a:solidFill>
                <a:latin typeface="Yu Gothic U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KEEP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26 〜 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ダイワ クールラインα3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4835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COOL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32 〜 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シマノ フィクセル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600450"/>
            <a:ext cx="9715500" cy="144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848100"/>
            <a:ext cx="857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どちらも JIS S 2048：2006 の簡便法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2291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外気40℃ ／ 本体容量の25%の角氷 ／ 氷が溶け切るまでの時間に換算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720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両社とも「目安であり保証値ではない」と明記しています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名前が違うだけで、中身は同じ物差しです。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両社の公表資料で確認しました（実測ではありません）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同じ「9号まで」でも幅が違う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横棒は本体幅。破線は9号土鍋でいちばん幅のある墨貫入（32.5cm）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土鍋との差は最大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152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1051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581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057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533900"/>
            <a:ext cx="10439400" cy="4000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533900"/>
            <a:ext cx="47625" cy="4000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43250" y="1752600"/>
            <a:ext cx="5373624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752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スリム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174" y="1752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32.8cm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43250" y="2228850"/>
            <a:ext cx="547192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28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29472" y="2228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33.4cm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43250" y="2705100"/>
            <a:ext cx="548830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2705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達人スリムV／達人スリムβ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5855" y="2705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33.5cm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43250" y="3181350"/>
            <a:ext cx="5521071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1813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621" y="31813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33.7cm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43250" y="3657600"/>
            <a:ext cx="581596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3657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アモルフォプレミアム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3515" y="3657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35.5cm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43250" y="4133850"/>
            <a:ext cx="5873306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33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雅SLIM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856" y="4133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35.85cm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43250" y="4610100"/>
            <a:ext cx="6405753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850" y="4610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3303" y="4610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39.1cm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67725" y="1619250"/>
            <a:ext cx="9525" cy="32766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9475" y="499110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9号土鍋 32.5cm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「9号まで」は号数の目安で、寸法ではありません。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ボンベ1本は55〜78分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濃い部分が「250g ÷ ガス消費量」。薄い部分まで伸びると公表の連続燃焼時間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いちばん長くて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288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813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337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862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38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438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00500" y="1771650"/>
            <a:ext cx="29337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145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431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286g/h ／ ＋3分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17716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55分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0500" y="2324100"/>
            <a:ext cx="41605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669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4955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254g/h ／ ＋19分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241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78分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2876550"/>
            <a:ext cx="36271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8194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達人スリムV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0480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245g/h ／ ＋7分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1920" y="28765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68分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429000"/>
            <a:ext cx="37338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3718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スリム ほか2機種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6004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236g/h ／ ＋6分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8600" y="34290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70分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00500" y="3981450"/>
            <a:ext cx="38404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9243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エコプレミアムIII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152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210g/h ／ ＋1分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39814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72分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00500" y="4533900"/>
            <a:ext cx="59740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4767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ミニ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7053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135g/h ／ ＋1分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88880" y="45339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112分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火力が強い機種ほど、早く使い切ります。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6本に届くのは「全部まかなう」とき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1人・1週間あたり ／ 気温10℃での計算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全部まかなっても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477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477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52800"/>
            <a:ext cx="10439400" cy="6477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767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95750" y="2057400"/>
            <a:ext cx="524827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193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食事＋カップ麺＋飲み物＋お湯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全部まかなう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58325" y="20574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5.8本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0" y="2781300"/>
            <a:ext cx="407193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7432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食事＋飲み物＋お湯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990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カップ麺なし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1988" y="27813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4.5本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3505200"/>
            <a:ext cx="289560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34671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714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お湯を沸かさない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5650" y="35052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3.2本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4229100"/>
            <a:ext cx="226218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41910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食事だけ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44386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1日3回のレトルト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2238" y="42291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2.5本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25000" y="1828800"/>
            <a:ext cx="9525" cy="28575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0" y="1581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農林水産省の目安 6本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「1人6本」はカップ麺まで含めた全部の想定でした。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農水省とイワタニの公表値からの計算です（実測ではありません）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土鍋の「号数」は幅を決めていません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銀峯陶器の公表寸法。同じ号数でもシリーズで幅が違う（幅は取手込み）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コンロの本体幅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0030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289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57600"/>
            <a:ext cx="10439400" cy="5524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657600"/>
            <a:ext cx="47625" cy="552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862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86150" y="1905000"/>
            <a:ext cx="2095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90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21〜22cm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53365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2025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24〜26.5cm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43450" y="316230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675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27〜29.5cm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81650" y="3790950"/>
            <a:ext cx="31432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9325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31〜32.5cm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0300" y="4419600"/>
            <a:ext cx="4191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27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34〜36cm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4570" y="1695450"/>
            <a:ext cx="9525" cy="3067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13070" y="1447800"/>
            <a:ext cx="4000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カセットコンロの本体幅 33.4cm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同じ号数でも、シリーズで幅が違います。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同じ「180」でも天板の高さが違う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型番に180が付く4シリーズのメーカー公表値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実際に立てるのは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10000" y="18288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BSA-180A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60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24765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SEC-S180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360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124200"/>
            <a:ext cx="55054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RHB-18a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2975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1.70m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3771900"/>
            <a:ext cx="5440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MCX-180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498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1.68m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4419600"/>
            <a:ext cx="45339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RHB-18a に立てる高さ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天板には乗れません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1.40m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専用脚立は型番＝天板高さ。はしご兼用脚立は型番より9〜12cm低い値でした。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同じ高さに立つのに 1.7kg と 6.3kg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足を置ける高さ0.5〜0.6m（伸縮脚付きは除く）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いちばん重いもの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95750" y="1828800"/>
            <a:ext cx="148971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CCA-60K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9976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1.7kg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95750" y="2476500"/>
            <a:ext cx="157734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SE-6a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8739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1.8kg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95750" y="3124200"/>
            <a:ext cx="30670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EFA-05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0.51m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7710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3.5kg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95750" y="3771900"/>
            <a:ext cx="3154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0.50m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473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3.6kg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95750" y="4419600"/>
            <a:ext cx="552069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SWH-09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0.60m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074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6.3kg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踏台は天板高さ、脚立は使用最大高さでそろえています。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伸縮脚は21〜45cm。階段には届きません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3社5シリーズの公表値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69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72021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RZS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脚軽伸縮タイプ／専用脚立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026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RYZB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はしご兼用伸縮脚立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9415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スタッピー SXJ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四脚アジャスト式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9415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60426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PRT-FX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伸縮脚付専用脚立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431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44cm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6861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かるノビ SCL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階段用／前後の脚の長さが違う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62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45cm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5213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踏面15cm・蹴上げ23cm・3段ぶん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62185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前脚と後脚は3段離れます。1段で済ませるには踏面が28cm近く必要でした。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「踏台」の天板は0.30mから1.61mまで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メーカーが呼び分けている天板高さの範囲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踏台なのに最大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1.61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705100"/>
            <a:ext cx="10439400" cy="7239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05100"/>
            <a:ext cx="47625" cy="7239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2450" y="2095500"/>
            <a:ext cx="121348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20383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踏台（上わくなし）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2860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0.30 〜 0.79m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82515" y="2895600"/>
            <a:ext cx="272415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28384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30861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1.61m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82515" y="3695700"/>
            <a:ext cx="542353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36385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38862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2.70m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0700" y="1809750"/>
            <a:ext cx="9525" cy="2305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43450" y="1562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天板高さ 80cm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上わくが付くと、80cmを超えても「踏台」と呼ばれていました。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届きたい高さ − 身長 ＝ 必要な足場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長谷川工業の「身長＋天板高さ＝作業高さ」を逆に使う（身長160cm基準）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2.4mに届くには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015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届きたい高さ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875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2.4m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33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2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身長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2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1.6m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2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E6EEF6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1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必要な足場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1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0.8m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95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66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04800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0.8m に足を置ける3つの選び方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0.79m ／ 2.5kg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いちばん軽く、短くしまえる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33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0.77m ／ 3.8kg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手すりが天板の60cm上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2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長谷川工業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0.80m ／ 4.5kg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天板には乗れない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脚立の「足を置ける高さ」は天板高さではなく、使用最大高さです。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1.5L も 2L とほぼ同じ高さ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棒がボトルの全高、線がクーラーボックスの内寸の深さ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立つのは深さ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310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885950"/>
            <a:ext cx="324802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8859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ダイワ10L・20L　内寸の深さ 220mm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4325" y="18859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2438400"/>
            <a:ext cx="33956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4384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ダイワ15L　内寸の深さ 230mm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1962" y="24384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2990850"/>
            <a:ext cx="35875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9908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ロゴス・アイリス　内寸の深さ 243mm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3891" y="29908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3543300"/>
            <a:ext cx="37647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5433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ダイワ25L　内寸の深さ 255mm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1056" y="3543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4095750"/>
            <a:ext cx="45767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0957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アイリス40L　内寸の深さ 310mm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3062" y="40957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2Lが立つ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89708" y="1695450"/>
            <a:ext cx="9525" cy="2686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08708" y="1447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2Lの全高 306mm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1.5L（305〜307.5mm）は 2L（305〜306mm）とほぼ同じ高さです。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出典：ボトル＝料材開発／深さ＝各メーカー公式の内寸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床面積が同じでも本数は違う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どちらも 858cm² ／ 丸型ボトル 胴径 68.5mm ／ 灰色は割り切れない余り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ロゴスは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448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276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104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93289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448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7276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104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93289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448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7276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2104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93289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9382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39 ÷ 6.85 ＝ 5.7 → 5列 ／ 22 ÷ 6.85 ＝ 3.2 → 3行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ハイパー氷点下クーラーL（20L）　内寸 33 × 26cm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05500" y="2190750"/>
            <a:ext cx="2326005" cy="183261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883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711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539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9055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883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711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539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055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883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711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539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417576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33 ÷ 6.85 ＝ 4.8 → 4列 ／ 26 ÷ 6.85 ＝ 3.8 → 3行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0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055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4列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広さではなく、胴径で割り切れるかで決まります。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公表容量は 20L と 22L。どちらも 15本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ボトルはシマノ公表の前提 Φ66 × 全高207mm ／ 灰色は使えない余り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674620" cy="150876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146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672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198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725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146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672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198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725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146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6672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198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5725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5191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メーカーの公表は18本（前提にしたボトルが違う）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シマノ フィクセル 22L　内寸（底部）21.1 × 39.1cm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05500" y="2190750"/>
            <a:ext cx="2681478" cy="144703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9055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581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107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2633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7160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581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8107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2633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160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9055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581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107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2633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160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05500" y="3790188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本数の公表なし。内寸は「底部」の値を使った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055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公表容量が違っても、入る本数は同じでした。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同じ箱・同じ1枚。置き方だけで違う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胴径60mm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氷点下パックL（25.5 × 16.4 × 厚2.5cm）を床に寝かせる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2190750"/>
            <a:ext cx="1797368" cy="1155954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200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8491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0782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200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8491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0782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A8410F"/>
                </a:solidFill>
                <a:latin typeface="Yu Gothic UI"/>
              </a:rPr>
              <a:t>6</a:t>
            </a:r>
            <a:r>
              <a:rPr sz="150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残る帯は 22 − 16.4 ＝ 5.6cm。胴径6cmに足りず丸ごと死ぬ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氷点下パックM（19.6 × 13.8 × 厚2.6cm）を壁に立てかける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055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05500" y="2190750"/>
            <a:ext cx="1381506" cy="183261"/>
          </a:xfrm>
          <a:prstGeom prst="rect">
            <a:avLst/>
          </a:prstGeom>
          <a:solidFill>
            <a:srgbClr val="DAE7F2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0550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2841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5132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17423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9714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2005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2841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5132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7423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9714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2005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2841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75132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17423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9714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02005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055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床の余り 4cm と 3cm に、厚さ2.6cmがそのまま収まる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面積ではなく、残った帯が胴径で割り切れるかで決まります。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斜めに置くと、長辺より長いものが入る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シマノ スペーザ 350（内寸 25.2 × 59.2 × 深さ 23.0cm）を上から見た床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68.3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05500" y="20002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0" y="21907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床の対角線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5146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√(25.2² ＋ 59.2²) ＝ 64.3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05500" y="32956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0" y="34861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8100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√(25.2² ＋ 59.2² ＋ 23.0²) ＝ 68.3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角の丸みや水栓の出っ張りは計算に入っていません。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どちらも15L。中の広さは違う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上から見た床面 ／ 灰色の外枠＝外寸、青い内枠＝内寸（メーカー公表値）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断熱で片側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アイリスオーヤマ HUGEL 15L（真空断熱パネル）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2743200" cy="187756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3604" y="2574798"/>
            <a:ext cx="1840992" cy="1109472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42397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45.0 × 30.8cm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5064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30.2 × 18.2cm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773168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長辺で片側7.4cm ／ 短辺で片側6.3cm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ダイワ クールラインα3 S1500（発泡スチロール）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2190750"/>
            <a:ext cx="2895600" cy="152400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46520" y="2434590"/>
            <a:ext cx="2194560" cy="1036320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0" y="38862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47.5 × 25.0cm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41529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36.0 × 17.0cm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44196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長辺で片側5.75cm ／ 短辺で片側4.0cm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外寸が大きくても、断熱が厚ければ中は狭くなります。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入れたいものから内寸を逆に引く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容量Lは「何が入るか」を教えてくれない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内寸を並べた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製品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954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812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670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7528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438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500ml ペットボトル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0383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207mm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3800" y="18669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内寸の辺 ÷ 胴径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4750" y="1866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同じ20Lでも 15〜18本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2L ペットボトル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7241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306mm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3800" y="25527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内寸の深さ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4750" y="25527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306mm以上は 33製品中9つ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保冷剤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4099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厚さ 25〜35mm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33800" y="32385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深さの余り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4750" y="32385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25mm未満なら床を食う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大きい魚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40957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まっすぐ入る長さ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33800" y="39243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内寸の長辺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4750" y="39243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80cm以上は 3製品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持ち運び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850" y="47815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空のときの重さ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33800" y="46101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自重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24750" y="46101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1.5kg 〜 13.2kg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容量Lではなく、入れたいものから内寸を決めます。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「10号まで」でも土鍋のほうが広い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上から見た図 ／ 灰色＝コンロ本体、橙＝土鍋（口径31cm＋取手）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左右にはみ出す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2286000"/>
            <a:ext cx="2290572" cy="18790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8596" y="2311146"/>
            <a:ext cx="2468880" cy="1828800"/>
          </a:xfrm>
          <a:prstGeom prst="ellipse">
            <a:avLst/>
          </a:prstGeom>
          <a:solidFill>
            <a:srgbClr val="FDF2E4"/>
          </a:solidFill>
          <a:ln w="28575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イワタニ エコプレミアムIII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23241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本体 33.4 × 27.4cm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8194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墨貫入 10号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31051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幅（取手込）36cm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5500" y="3486150"/>
            <a:ext cx="4572000" cy="6286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36766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左右に 1.3cm ずつはみ出す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3053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はみ出しても五徳に乗れば使えます。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45720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効くのは「卓上で必要な幅」のほうです。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号数ではなく、取手込みの幅で決まります。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「180」でも足を置けるのは 1.40m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／ 横から見た図 ／ 踏ざんは省略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型番より低い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2556510"/>
            <a:ext cx="1905000" cy="2396490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8250" y="2979420"/>
            <a:ext cx="2286000" cy="381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0" y="17526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2500" y="18669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型番の数字 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2500" y="21336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開いた状態の高さではありません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4384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2500" y="25527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天板の高さ 1.70m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0" y="28194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乗ることは禁止されています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1242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2500" y="32385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使用最大高さ 1.40m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35052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足を置けるのはここまで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0" y="413385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型番の数字より 40cm 低い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0" y="4419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RHB は5サイズすべてこの差でした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2500" y="46863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BSA-A と SEC-S の仕様表にはこの欄がありません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型番の数字は、足を置ける高さではありません。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0.8m前後に立つのに 2.5kg と 7.6kg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踏台は天板高さ、脚立は使用最大高さでそろえています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重さの差は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3.0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8573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6742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2.5kg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193167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1720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2.6kg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82321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0.77m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3260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3.8kg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2689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EFA-08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0.79m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03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4.4kg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3432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0.80m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533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4.5kg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464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SWH-12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0.90m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56470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7.6kg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いちばん軽い2.5kgと、いちばん重い7.6kgで3.0倍の差があります。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階段では前脚と後脚が3段離れます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踏面15cm・蹴上げ23cm（住宅の法定の限界値）／ 脚立の設置奥行 55.2cm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足りない分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387096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04950" y="316992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62150" y="246888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19350" y="176784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468880"/>
            <a:ext cx="47625" cy="210312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" y="216408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8500" y="3627120"/>
            <a:ext cx="47625" cy="94488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2800" y="332232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0" y="18669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必要な高低差 69cm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0" y="23241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3段離れる × 蹴上げ23cm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43500" y="27813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29527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伸縮脚で調整できるのは 31cm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0" y="32385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ピカ スタッピー SXJ-90A の公表値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0" y="3810000"/>
            <a:ext cx="4381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38cm 足りません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4191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踏面が広い階段でも2段離れるので、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44577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必要なのは32cm以上でした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伸縮脚では、住宅の階段の高低差に届きません。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天板は同じでも足場の高さが違う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横から見た図 ／ 同じ0.8m前後の2製品を並べています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脚立で立てるのは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0.50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3370421"/>
            <a:ext cx="1619250" cy="1392079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9250" y="2295525"/>
            <a:ext cx="1238250" cy="1074896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1990725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全高 1.40m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8500" y="289464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上わく ＋61cm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500" y="3370421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天板 0.79m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875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75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EFA-08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0" y="3335179"/>
            <a:ext cx="1619250" cy="1427321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67500" y="3881438"/>
            <a:ext cx="1619250" cy="881062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77250" y="3335179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6A717B"/>
                </a:solidFill>
                <a:latin typeface="Yu Gothic UI"/>
              </a:rPr>
              <a:t>天板 0.81m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0" y="388143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使用最大 0.50m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天板は0.79mと0.81m。足を置ける高さは0.79mと0.50mに分かれます。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中身を入れると何kgになる？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濃い色が自重（メーカー公表）、薄い色まで伸びると満載の上限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80Lは満載で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91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335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146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957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8630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8630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76750" y="1866900"/>
            <a:ext cx="1249204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76750" y="1866900"/>
            <a:ext cx="87154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809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" y="20383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20L ／ 自重 1.5kg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0254" y="18669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21.5kg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76750" y="2457450"/>
            <a:ext cx="70304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76750" y="2457450"/>
            <a:ext cx="122015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24003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S1000X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26289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10L ／ 自重 2.1kg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090" y="24574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12.1kg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3048000"/>
            <a:ext cx="1377029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76750" y="3048000"/>
            <a:ext cx="214979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29908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S2000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2194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20L ／ 自重 3.7kg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68079" y="30480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23.7kg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76750" y="3638550"/>
            <a:ext cx="3096863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476750" y="3638550"/>
            <a:ext cx="366046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5814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50QT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38100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約47L ／ 自重 6.3kg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7913" y="36385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53.3kg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76750" y="4229100"/>
            <a:ext cx="37359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476750" y="4229100"/>
            <a:ext cx="366046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850" y="41719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62QT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850" y="4400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約58L ／ 自重 6.3kg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7041" y="42291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64.3kg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76750" y="4819650"/>
            <a:ext cx="5287328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476750" y="4819650"/>
            <a:ext cx="639127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トランクマスターHD III 8000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9911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80L ／ 自重 11.0kg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8377" y="48196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91.0kg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自重がいちばん軽い1.5kgの製品が、満載では21.5kgになります。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