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</p:sldIdLst>
  <p:sldSz cx="11430000" cy="6000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広げると、奥行が最大14.5倍になります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濃い色がしまうとき、薄い色が広げたとき。メーカー公表の寸法から計算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いちばん差が大きい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14.5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倍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5300" y="1771650"/>
            <a:ext cx="10439400" cy="60960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95300" y="2457450"/>
            <a:ext cx="10439400" cy="60960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95300" y="3143250"/>
            <a:ext cx="10439400" cy="60960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95300" y="3829050"/>
            <a:ext cx="10439400" cy="60960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95300" y="4514850"/>
            <a:ext cx="10439400" cy="609600"/>
          </a:xfrm>
          <a:prstGeom prst="rect">
            <a:avLst/>
          </a:prstGeom>
          <a:solidFill>
            <a:srgbClr val="E6EEF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95300" y="4514850"/>
            <a:ext cx="47625" cy="60960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676650" y="1895475"/>
            <a:ext cx="755904" cy="361950"/>
          </a:xfrm>
          <a:prstGeom prst="roundRect">
            <a:avLst>
              <a:gd name="adj" fmla="val 22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676650" y="1895475"/>
            <a:ext cx="438912" cy="3619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0B5C99"/>
              </a:gs>
              <a:gs pos="100000">
                <a:srgbClr val="014172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04850" y="1885950"/>
            <a:ext cx="2667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長谷川 SE-3a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4850" y="2133600"/>
            <a:ext cx="2667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18cm → 31cm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84954" y="1895475"/>
            <a:ext cx="1238250" cy="3619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800" b="1">
                <a:solidFill>
                  <a:srgbClr val="014172"/>
                </a:solidFill>
                <a:latin typeface="Yu Gothic UI"/>
              </a:rPr>
              <a:t>1.7倍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676650" y="2581275"/>
            <a:ext cx="1609344" cy="361950"/>
          </a:xfrm>
          <a:prstGeom prst="roundRect">
            <a:avLst>
              <a:gd name="adj" fmla="val 22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676650" y="2581275"/>
            <a:ext cx="438912" cy="3619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0B5C99"/>
              </a:gs>
              <a:gs pos="100000">
                <a:srgbClr val="014172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4850" y="2571750"/>
            <a:ext cx="2667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長谷川 SE-8a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4850" y="2819400"/>
            <a:ext cx="2667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18cm → 66cm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38394" y="2581275"/>
            <a:ext cx="1238250" cy="3619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800" b="1">
                <a:solidFill>
                  <a:srgbClr val="014172"/>
                </a:solidFill>
                <a:latin typeface="Yu Gothic UI"/>
              </a:rPr>
              <a:t>3.7倍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676650" y="3267075"/>
            <a:ext cx="2633472" cy="361950"/>
          </a:xfrm>
          <a:prstGeom prst="roundRect">
            <a:avLst>
              <a:gd name="adj" fmla="val 22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3676650" y="3267075"/>
            <a:ext cx="414528" cy="3619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0B5C99"/>
              </a:gs>
              <a:gs pos="100000">
                <a:srgbClr val="014172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04850" y="3257550"/>
            <a:ext cx="2667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長谷川 RHB-18a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4850" y="3505200"/>
            <a:ext cx="2667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17cm → 108cm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62522" y="3267075"/>
            <a:ext cx="1238250" cy="3619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800" b="1">
                <a:solidFill>
                  <a:srgbClr val="014172"/>
                </a:solidFill>
                <a:latin typeface="Yu Gothic UI"/>
              </a:rPr>
              <a:t>6.4倍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676650" y="3952875"/>
            <a:ext cx="2535936" cy="361950"/>
          </a:xfrm>
          <a:prstGeom prst="roundRect">
            <a:avLst>
              <a:gd name="adj" fmla="val 22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3676650" y="3952875"/>
            <a:ext cx="234086" cy="3619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0B5C99"/>
              </a:gs>
              <a:gs pos="100000">
                <a:srgbClr val="014172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04850" y="3943350"/>
            <a:ext cx="2667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長谷川 EFA-11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04850" y="4191000"/>
            <a:ext cx="2667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9.6cm → 104cm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64986" y="3952875"/>
            <a:ext cx="1238250" cy="3619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800" b="1">
                <a:solidFill>
                  <a:srgbClr val="014172"/>
                </a:solidFill>
                <a:latin typeface="Yu Gothic UI"/>
              </a:rPr>
              <a:t>10.8倍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676650" y="4638675"/>
            <a:ext cx="6096000" cy="361950"/>
          </a:xfrm>
          <a:prstGeom prst="roundRect">
            <a:avLst>
              <a:gd name="adj" fmla="val 22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3676650" y="4638675"/>
            <a:ext cx="419405" cy="3619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0B5C99"/>
              </a:gs>
              <a:gs pos="100000">
                <a:srgbClr val="014172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04850" y="4629150"/>
            <a:ext cx="2667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アルインコ PRT-360FX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4850" y="4876800"/>
            <a:ext cx="2667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17.2cm → 250cm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925050" y="4638675"/>
            <a:ext cx="1238250" cy="3619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800" b="1">
                <a:solidFill>
                  <a:srgbClr val="014172"/>
                </a:solidFill>
                <a:latin typeface="Yu Gothic UI"/>
              </a:rPr>
              <a:t>14.5倍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薄くしまえるものほど、広げたときの差が大きくなります。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広げても幅は変わりません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長谷川工業 RHB-18a を上から見た図。伸びるのは奥行だけ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奥行だけが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6.4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1504950"/>
            <a:ext cx="2857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しまうとき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17526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6A717B"/>
                </a:solidFill>
                <a:latin typeface="Yu Gothic UI"/>
              </a:rPr>
              <a:t>幅 62cm × 奥行 17cm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2019300"/>
            <a:ext cx="1535430" cy="2674620"/>
          </a:xfrm>
          <a:prstGeom prst="rect">
            <a:avLst/>
          </a:prstGeom>
          <a:noFill/>
          <a:ln w="19050">
            <a:solidFill>
              <a:srgbClr val="014172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143000" y="2019300"/>
            <a:ext cx="1535430" cy="421005"/>
          </a:xfrm>
          <a:prstGeom prst="roundRect">
            <a:avLst>
              <a:gd name="adj" fmla="val 10000"/>
            </a:avLst>
          </a:prstGeom>
          <a:gradFill rotWithShape="1">
            <a:gsLst>
              <a:gs pos="0">
                <a:srgbClr val="0B5C99"/>
              </a:gs>
              <a:gs pos="100000">
                <a:srgbClr val="014172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43000" y="4827270"/>
            <a:ext cx="3048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1">
                <a:solidFill>
                  <a:srgbClr val="014172"/>
                </a:solidFill>
                <a:latin typeface="Yu Gothic UI"/>
              </a:rPr>
              <a:t>破線まで広がります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95750" y="1504950"/>
            <a:ext cx="2857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広げたとき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95750" y="17526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6A717B"/>
                </a:solidFill>
                <a:latin typeface="Yu Gothic UI"/>
              </a:rPr>
              <a:t>幅 62cm × 奥行 108cm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095750" y="2019300"/>
            <a:ext cx="1535430" cy="2674620"/>
          </a:xfrm>
          <a:prstGeom prst="roundRect">
            <a:avLst>
              <a:gd name="adj" fmla="val 4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477000" y="1885950"/>
            <a:ext cx="4152900" cy="1352550"/>
          </a:xfrm>
          <a:prstGeom prst="roundRect">
            <a:avLst>
              <a:gd name="adj" fmla="val 6000"/>
            </a:avLst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67500" y="2133600"/>
            <a:ext cx="3810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75" b="1">
                <a:solidFill>
                  <a:srgbClr val="2E2E33"/>
                </a:solidFill>
                <a:latin typeface="Yu Gothic UI"/>
              </a:rPr>
              <a:t>奥行だけが伸びます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67500" y="2438400"/>
            <a:ext cx="3810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17cm → 108cm（6.4倍）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67500" y="2724150"/>
            <a:ext cx="3810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0">
                <a:solidFill>
                  <a:srgbClr val="6A717B"/>
                </a:solidFill>
                <a:latin typeface="Yu Gothic UI"/>
              </a:rPr>
              <a:t>幅は 62cm のまま変わりません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77000" y="3486150"/>
            <a:ext cx="4152900" cy="116205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DAE7F2"/>
            </a:solidFill>
          </a:ln>
          <a:effectLst>
            <a:outerShdw blurRad="177800" dist="38100" dir="5400000" rotWithShape="0">
              <a:srgbClr val="0B2B45">
                <a:alpha val="1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67500" y="3676650"/>
            <a:ext cx="3810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6A717B"/>
                </a:solidFill>
                <a:latin typeface="Yu Gothic UI"/>
              </a:rPr>
              <a:t>いちばん差が大きいのは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67500" y="3943350"/>
            <a:ext cx="3810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2E2E33"/>
                </a:solidFill>
                <a:latin typeface="Yu Gothic UI"/>
              </a:rPr>
              <a:t>アルインコ PRT-360FX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67500" y="4229100"/>
            <a:ext cx="3810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17.2cm → 250cm（14.5倍）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しまう場所と広げる場所は、別々に測ってください。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薄くしまえることと、狭い場所で使えることは別の話です。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500mlは何本入る？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容量Lではなく「内寸」で決まります。同じ20Lでも15本と18本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20Lに丸型なら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15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本</a:t>
            </a:r>
          </a:p>
        </p:txBody>
      </p:sp>
      <p:sp>
        <p:nvSpPr>
          <p:cNvPr id="10" name="Rectangle 9"/>
          <p:cNvSpPr/>
          <p:nvPr/>
        </p:nvSpPr>
        <p:spPr>
          <a:xfrm>
            <a:off x="5334000" y="2038350"/>
            <a:ext cx="3566160" cy="2011680"/>
          </a:xfrm>
          <a:prstGeom prst="rect">
            <a:avLst/>
          </a:prstGeom>
          <a:solidFill>
            <a:srgbClr val="F2F5F8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334000" y="2038350"/>
            <a:ext cx="626364" cy="626364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960364" y="2038350"/>
            <a:ext cx="626364" cy="626364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586728" y="2038350"/>
            <a:ext cx="626364" cy="626364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213092" y="2038350"/>
            <a:ext cx="626364" cy="626364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839456" y="2038350"/>
            <a:ext cx="626364" cy="626364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334000" y="2664714"/>
            <a:ext cx="626364" cy="626364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960364" y="2664714"/>
            <a:ext cx="626364" cy="626364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586728" y="2664714"/>
            <a:ext cx="626364" cy="626364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213092" y="2664714"/>
            <a:ext cx="626364" cy="626364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839456" y="2664714"/>
            <a:ext cx="626364" cy="626364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334000" y="3291078"/>
            <a:ext cx="626364" cy="626364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960364" y="3291078"/>
            <a:ext cx="626364" cy="626364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586728" y="3291078"/>
            <a:ext cx="626364" cy="626364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213092" y="3291078"/>
            <a:ext cx="626364" cy="626364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7839456" y="3291078"/>
            <a:ext cx="626364" cy="626364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334000" y="1752600"/>
            <a:ext cx="3810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6A717B"/>
                </a:solidFill>
                <a:latin typeface="Yu Gothic UI"/>
              </a:rPr>
              <a:t>内寸 22 × 39cm ／ 丸型 68.5φ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34000" y="4183380"/>
            <a:ext cx="4381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灰色は割り切れずに捨てられる余り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5800" y="2000250"/>
            <a:ext cx="4000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75" b="1">
                <a:solidFill>
                  <a:srgbClr val="2E2E33"/>
                </a:solidFill>
                <a:latin typeface="Yu Gothic UI"/>
              </a:rPr>
              <a:t>床に並ぶ数で決まります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5800" y="2495550"/>
            <a:ext cx="4000500" cy="571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950" b="1">
                <a:solidFill>
                  <a:srgbClr val="2E2E33"/>
                </a:solidFill>
                <a:latin typeface="Yu Gothic UI"/>
              </a:rPr>
              <a:t>5列 × 3行 ＝ </a:t>
            </a:r>
            <a:r>
              <a:rPr sz="3450" b="1">
                <a:solidFill>
                  <a:srgbClr val="014172"/>
                </a:solidFill>
                <a:latin typeface="Yu Gothic UI"/>
              </a:rPr>
              <a:t>15</a:t>
            </a:r>
            <a:r>
              <a:rPr sz="1800" b="1">
                <a:solidFill>
                  <a:srgbClr val="014172"/>
                </a:solidFill>
                <a:latin typeface="Yu Gothic UI"/>
              </a:rPr>
              <a:t>本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85800" y="3143250"/>
            <a:ext cx="4000500" cy="914400"/>
          </a:xfrm>
          <a:prstGeom prst="roundRect">
            <a:avLst>
              <a:gd name="adj" fmla="val 6000"/>
            </a:avLst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57250" y="3333750"/>
            <a:ext cx="3619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2E2E33"/>
                </a:solidFill>
                <a:latin typeface="Yu Gothic UI"/>
              </a:rPr>
              <a:t>同じ20Lでも 15本 と 18本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57250" y="3638550"/>
            <a:ext cx="3619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容量Lは中身の広さを表していません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容量Lではなく、内寸の掛け算で決まります。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2Lペットボトルは立てて入る？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10〜25Lには、まず立ちません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はみ出す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51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mm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86250" y="2524125"/>
            <a:ext cx="2286000" cy="2428875"/>
          </a:xfrm>
          <a:prstGeom prst="rect">
            <a:avLst/>
          </a:prstGeom>
          <a:solidFill>
            <a:srgbClr val="F2F5F8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86250" y="2257425"/>
            <a:ext cx="2857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6A717B"/>
                </a:solidFill>
                <a:latin typeface="Yu Gothic UI"/>
              </a:rPr>
              <a:t>内寸の深さ 255mm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857750" y="2038350"/>
            <a:ext cx="914400" cy="2914650"/>
          </a:xfrm>
          <a:prstGeom prst="roundRect">
            <a:avLst>
              <a:gd name="adj" fmla="val 6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57750" y="5086350"/>
            <a:ext cx="3048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6A717B"/>
                </a:solidFill>
                <a:latin typeface="Yu Gothic UI"/>
              </a:rPr>
              <a:t>2Lボトル 全高 306mm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857750" y="2038350"/>
            <a:ext cx="914400" cy="485775"/>
          </a:xfrm>
          <a:prstGeom prst="rect">
            <a:avLst/>
          </a:prstGeom>
          <a:solidFill>
            <a:srgbClr val="FDF2E4"/>
          </a:solidFill>
          <a:ln w="19050">
            <a:solidFill>
              <a:srgbClr val="A8410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05500" y="2095500"/>
            <a:ext cx="2857500" cy="2857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800" b="1">
                <a:solidFill>
                  <a:srgbClr val="A8410F"/>
                </a:solidFill>
                <a:latin typeface="Yu Gothic UI"/>
              </a:rPr>
              <a:t>51mm はみ出す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429500" y="2038350"/>
            <a:ext cx="3200400" cy="1143000"/>
          </a:xfrm>
          <a:prstGeom prst="roundRect">
            <a:avLst>
              <a:gd name="adj" fmla="val 6000"/>
            </a:avLst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20000" y="2247900"/>
            <a:ext cx="2857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2E2E33"/>
                </a:solidFill>
                <a:latin typeface="Yu Gothic UI"/>
              </a:rPr>
              <a:t>1.5L も同じ高さです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20000" y="2552700"/>
            <a:ext cx="2857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6A717B"/>
                </a:solidFill>
                <a:latin typeface="Yu Gothic UI"/>
              </a:rPr>
              <a:t>容量が減った分、細くなる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20000" y="2819400"/>
            <a:ext cx="2857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6A717B"/>
                </a:solidFill>
                <a:latin typeface="Yu Gothic UI"/>
              </a:rPr>
              <a:t>だけで背は変わりません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10〜25Lのクーラーボックスには、まず立ちません。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同じ26Lクラス。深さが1.5倍ちがう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内寸を横から見た図。橙は2Lペットボトル（全高306mm）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深さの差が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1.5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28750" y="1809750"/>
            <a:ext cx="3810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コールマン 28QT（約26L）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428750" y="1895475"/>
            <a:ext cx="2476500" cy="2867025"/>
          </a:xfrm>
          <a:prstGeom prst="rect">
            <a:avLst/>
          </a:prstGeom>
          <a:solidFill>
            <a:srgbClr val="F2F5F8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095500" y="2255901"/>
            <a:ext cx="800100" cy="2506599"/>
          </a:xfrm>
          <a:prstGeom prst="roundRect">
            <a:avLst>
              <a:gd name="adj" fmla="val 6000"/>
            </a:avLst>
          </a:prstGeom>
          <a:gradFill rotWithShape="1">
            <a:gsLst>
              <a:gs pos="0">
                <a:srgbClr val="FDF2E4"/>
              </a:gs>
              <a:gs pos="100000">
                <a:srgbClr val="FDF2E4"/>
              </a:gs>
            </a:gsLst>
            <a:lin scaled="0" ang="16200000"/>
          </a:gradFill>
          <a:ln w="19050">
            <a:solidFill>
              <a:srgbClr val="A8410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428750" y="4914900"/>
            <a:ext cx="3810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014172"/>
                </a:solidFill>
                <a:latin typeface="Yu Gothic UI"/>
              </a:rPr>
              <a:t>深さ 350mm ／ 2Lが立つ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96000" y="1809750"/>
            <a:ext cx="3810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ダイワ PV-REX 2800（28L）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96000" y="2837498"/>
            <a:ext cx="2476500" cy="1925002"/>
          </a:xfrm>
          <a:prstGeom prst="rect">
            <a:avLst/>
          </a:prstGeom>
          <a:solidFill>
            <a:srgbClr val="F2F5F8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762750" y="2255901"/>
            <a:ext cx="800100" cy="2506599"/>
          </a:xfrm>
          <a:prstGeom prst="roundRect">
            <a:avLst>
              <a:gd name="adj" fmla="val 6000"/>
            </a:avLst>
          </a:prstGeom>
          <a:gradFill rotWithShape="1">
            <a:gsLst>
              <a:gs pos="0">
                <a:srgbClr val="FDF2E4"/>
              </a:gs>
              <a:gs pos="100000">
                <a:srgbClr val="FDF2E4"/>
              </a:gs>
            </a:gsLst>
            <a:lin scaled="0" ang="16200000"/>
          </a:gradFill>
          <a:ln w="19050">
            <a:solidFill>
              <a:srgbClr val="A8410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96000" y="4914900"/>
            <a:ext cx="3810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A8410F"/>
                </a:solidFill>
                <a:latin typeface="Yu Gothic UI"/>
              </a:rPr>
              <a:t>深さ 235mm ／ 2Lは立たない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28750" y="1970151"/>
            <a:ext cx="3810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1">
                <a:solidFill>
                  <a:srgbClr val="A8410F"/>
                </a:solidFill>
                <a:latin typeface="Yu Gothic UI"/>
              </a:rPr>
              <a:t>2Lの高さ 306mm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同じ容量表示でも、深さは1.5倍ちがいます。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80L と 60L。長さは同じ 85cm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ダイワ トランクマスター の内寸を横から見た図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長辺はどちらも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85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cm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28750" y="1714500"/>
            <a:ext cx="4762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80L　トランクマスターHD III 8000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428750" y="2000250"/>
            <a:ext cx="4371975" cy="1620203"/>
          </a:xfrm>
          <a:prstGeom prst="rect">
            <a:avLst/>
          </a:prstGeom>
          <a:solidFill>
            <a:srgbClr val="F2F5F8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91225" y="2038350"/>
            <a:ext cx="2476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75" b="1">
                <a:solidFill>
                  <a:srgbClr val="014172"/>
                </a:solidFill>
                <a:latin typeface="Yu Gothic UI"/>
              </a:rPr>
              <a:t>長辺 85cm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91225" y="2343150"/>
            <a:ext cx="2476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0">
                <a:solidFill>
                  <a:srgbClr val="6A717B"/>
                </a:solidFill>
                <a:latin typeface="Yu Gothic UI"/>
              </a:rPr>
              <a:t>深さ 31.5cm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28750" y="3429000"/>
            <a:ext cx="4762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60L　トランクマスターHD II 6000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428750" y="3714750"/>
            <a:ext cx="4371975" cy="1208722"/>
          </a:xfrm>
          <a:prstGeom prst="rect">
            <a:avLst/>
          </a:prstGeom>
          <a:solidFill>
            <a:srgbClr val="F2F5F8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91225" y="3752850"/>
            <a:ext cx="2476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75" b="1">
                <a:solidFill>
                  <a:srgbClr val="014172"/>
                </a:solidFill>
                <a:latin typeface="Yu Gothic UI"/>
              </a:rPr>
              <a:t>長辺 85cm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91225" y="4057650"/>
            <a:ext cx="2476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0">
                <a:solidFill>
                  <a:srgbClr val="6A717B"/>
                </a:solidFill>
                <a:latin typeface="Yu Gothic UI"/>
              </a:rPr>
              <a:t>深さ 23.5cm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容量が増えても長さは同じ。増えるのは深さです。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「20L」は何の20L？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外寸の体積のうち、中身に使えるのは 28.9〜40.0%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46Lの箱で使えるのは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13.4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L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" y="2038350"/>
            <a:ext cx="3857625" cy="2640330"/>
          </a:xfrm>
          <a:prstGeom prst="rect">
            <a:avLst/>
          </a:prstGeom>
          <a:solidFill>
            <a:srgbClr val="F2F5F8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548765" y="2578418"/>
            <a:ext cx="2588895" cy="1560195"/>
          </a:xfrm>
          <a:prstGeom prst="rect">
            <a:avLst/>
          </a:prstGeom>
          <a:solidFill>
            <a:srgbClr val="EEF4F9"/>
          </a:solidFill>
          <a:ln w="28575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1752600"/>
            <a:ext cx="4762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6A717B"/>
                </a:solidFill>
                <a:latin typeface="Yu Gothic UI"/>
              </a:rPr>
              <a:t>アイリスオーヤマ HUGEL 15L を上から見た床面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812030"/>
            <a:ext cx="5334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外寸 45.0 × 30.8cm ／ 内寸 30.2 × 18.2cm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05500" y="2038350"/>
            <a:ext cx="3810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0">
                <a:solidFill>
                  <a:srgbClr val="6A717B"/>
                </a:solidFill>
                <a:latin typeface="Yu Gothic UI"/>
              </a:rPr>
              <a:t>外寸で測ると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05500" y="2362200"/>
            <a:ext cx="38100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600" b="1">
                <a:solidFill>
                  <a:srgbClr val="2E2E33"/>
                </a:solidFill>
                <a:latin typeface="Yu Gothic UI"/>
              </a:rPr>
              <a:t>46</a:t>
            </a:r>
            <a:r>
              <a:rPr sz="1800" b="1">
                <a:solidFill>
                  <a:srgbClr val="2E2E33"/>
                </a:solidFill>
                <a:latin typeface="Yu Gothic UI"/>
              </a:rPr>
              <a:t> L の箱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05500" y="3048000"/>
            <a:ext cx="3810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0">
                <a:solidFill>
                  <a:srgbClr val="6A717B"/>
                </a:solidFill>
                <a:latin typeface="Yu Gothic UI"/>
              </a:rPr>
              <a:t>中身に使えるのは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05500" y="3371850"/>
            <a:ext cx="38100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600" b="1">
                <a:solidFill>
                  <a:srgbClr val="014172"/>
                </a:solidFill>
                <a:latin typeface="Yu Gothic UI"/>
              </a:rPr>
              <a:t>13.4</a:t>
            </a:r>
            <a:r>
              <a:rPr sz="1800" b="1">
                <a:solidFill>
                  <a:srgbClr val="014172"/>
                </a:solidFill>
                <a:latin typeface="Yu Gothic UI"/>
              </a:rPr>
              <a:t> 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905500" y="3981450"/>
            <a:ext cx="4000500" cy="590550"/>
          </a:xfrm>
          <a:prstGeom prst="roundRect">
            <a:avLst>
              <a:gd name="adj" fmla="val 8000"/>
            </a:avLst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076950" y="4152900"/>
            <a:ext cx="361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公表容量は 15L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外寸で測った体積のうち、中に入るのは 28.9〜40.0% です。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保冷剤を入れると 500ml は何本減る？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ダイワ S2000（20L）内寸 22 × 39cm ／ 500ml角型 ／ 保冷剤なしなら18本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寝かせると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6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本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0100" y="1866900"/>
            <a:ext cx="4476750" cy="2857500"/>
          </a:xfrm>
          <a:prstGeom prst="roundRect">
            <a:avLst>
              <a:gd name="adj" fmla="val 4000"/>
            </a:avLst>
          </a:prstGeom>
          <a:solidFill>
            <a:srgbClr val="FDF2E4"/>
          </a:solidFill>
          <a:ln w="19050">
            <a:solidFill>
              <a:srgbClr val="A8410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47750" y="2076450"/>
            <a:ext cx="4000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75" b="1">
                <a:solidFill>
                  <a:srgbClr val="2E2E33"/>
                </a:solidFill>
                <a:latin typeface="Yu Gothic UI"/>
              </a:rPr>
              <a:t>床に寝かせる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7750" y="2571750"/>
            <a:ext cx="4000500" cy="857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5700" b="1">
                <a:solidFill>
                  <a:srgbClr val="A8410F"/>
                </a:solidFill>
                <a:latin typeface="Yu Gothic UI"/>
              </a:rPr>
              <a:t>6</a:t>
            </a:r>
            <a:r>
              <a:rPr sz="2250" b="1">
                <a:solidFill>
                  <a:srgbClr val="A8410F"/>
                </a:solidFill>
                <a:latin typeface="Yu Gothic UI"/>
              </a:rPr>
              <a:t>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7750" y="3714750"/>
            <a:ext cx="4000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0">
                <a:solidFill>
                  <a:srgbClr val="6A717B"/>
                </a:solidFill>
                <a:latin typeface="Yu Gothic UI"/>
              </a:rPr>
              <a:t>保冷剤が床を占めます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7750" y="4095750"/>
            <a:ext cx="4000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0">
                <a:solidFill>
                  <a:srgbClr val="6A717B"/>
                </a:solidFill>
                <a:latin typeface="Yu Gothic UI"/>
              </a:rPr>
              <a:t>並べられる列が減ります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038850" y="1866900"/>
            <a:ext cx="4476750" cy="2857500"/>
          </a:xfrm>
          <a:prstGeom prst="roundRect">
            <a:avLst>
              <a:gd name="adj" fmla="val 4000"/>
            </a:avLst>
          </a:prstGeom>
          <a:solidFill>
            <a:srgbClr val="F2F5F8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86500" y="2076450"/>
            <a:ext cx="4000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75" b="1">
                <a:solidFill>
                  <a:srgbClr val="2E2E33"/>
                </a:solidFill>
                <a:latin typeface="Yu Gothic UI"/>
              </a:rPr>
              <a:t>壁に立てかける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86500" y="2571750"/>
            <a:ext cx="4000500" cy="857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5700" b="1">
                <a:solidFill>
                  <a:srgbClr val="014172"/>
                </a:solidFill>
                <a:latin typeface="Yu Gothic UI"/>
              </a:rPr>
              <a:t>18</a:t>
            </a:r>
            <a:r>
              <a:rPr sz="2250" b="1">
                <a:solidFill>
                  <a:srgbClr val="014172"/>
                </a:solidFill>
                <a:latin typeface="Yu Gothic UI"/>
              </a:rPr>
              <a:t>本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86500" y="3714750"/>
            <a:ext cx="4000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0">
                <a:solidFill>
                  <a:srgbClr val="6A717B"/>
                </a:solidFill>
                <a:latin typeface="Yu Gothic UI"/>
              </a:rPr>
              <a:t>本数は減りません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86500" y="4095750"/>
            <a:ext cx="4000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0">
                <a:solidFill>
                  <a:srgbClr val="6A717B"/>
                </a:solidFill>
                <a:latin typeface="Yu Gothic UI"/>
              </a:rPr>
              <a:t>壁に立てれば床が空きます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同じ箱・同じ保冷剤でも、置き方で 6本 と 18本 に分かれます。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メーカー公表の内寸と保冷剤11製品の公表寸法から計算（実測ではありません）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保冷剤は何枚まで入るか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氷点下パックM（196×138×厚26mm）／ 500ml角型を減らさない枚数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いちばん多くて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7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枚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5300" y="1676400"/>
            <a:ext cx="10439400" cy="30480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95300" y="2057400"/>
            <a:ext cx="10439400" cy="30480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95300" y="2438400"/>
            <a:ext cx="10439400" cy="30480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95300" y="2819400"/>
            <a:ext cx="10439400" cy="30480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95300" y="3200400"/>
            <a:ext cx="10439400" cy="30480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95300" y="3581400"/>
            <a:ext cx="10439400" cy="30480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95300" y="3962400"/>
            <a:ext cx="10439400" cy="30480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95300" y="4343400"/>
            <a:ext cx="10439400" cy="30480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95300" y="4724400"/>
            <a:ext cx="10439400" cy="304800"/>
          </a:xfrm>
          <a:prstGeom prst="rect">
            <a:avLst/>
          </a:prstGeom>
          <a:solidFill>
            <a:srgbClr val="E6EEF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95300" y="4724400"/>
            <a:ext cx="47625" cy="30480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4850" y="1714500"/>
            <a:ext cx="3619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ダイワ S1000X（10L）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476750" y="1733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10200" y="1714500"/>
            <a:ext cx="8572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1枚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850" y="2095500"/>
            <a:ext cx="3619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アイリスオーヤマ HUGEL 15L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476750" y="2114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410200" y="2095500"/>
            <a:ext cx="8572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1枚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4850" y="2476500"/>
            <a:ext cx="3619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ダイワ S1500（15L）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476750" y="2495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5334000" y="2495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267450" y="2476500"/>
            <a:ext cx="8572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2枚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4850" y="2857500"/>
            <a:ext cx="3619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ダイワ S2000（20L）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476750" y="2876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5334000" y="2876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267450" y="2857500"/>
            <a:ext cx="8572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2枚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04850" y="3238500"/>
            <a:ext cx="3619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ロゴス ハイパーL（20L）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476750" y="3257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5334000" y="3257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191250" y="3257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124700" y="3238500"/>
            <a:ext cx="8572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3枚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4850" y="3619500"/>
            <a:ext cx="3619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アイリスオーヤマ HUGEL 20L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476750" y="3638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5334000" y="3638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6191250" y="3638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7048500" y="3638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981950" y="3619500"/>
            <a:ext cx="8572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4枚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04850" y="4000500"/>
            <a:ext cx="3619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コールマン 28QT（約26L）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476750" y="4019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5334000" y="4019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6191250" y="4019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7048500" y="4019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981950" y="4000500"/>
            <a:ext cx="8572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4枚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04850" y="4381500"/>
            <a:ext cx="3619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ダイワ S2500（25L）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4476750" y="4400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5334000" y="4400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Rounded Rectangle 53"/>
          <p:cNvSpPr/>
          <p:nvPr/>
        </p:nvSpPr>
        <p:spPr>
          <a:xfrm>
            <a:off x="6191250" y="4400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7048500" y="4400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7905750" y="4400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8763000" y="4400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696450" y="4381500"/>
            <a:ext cx="8572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6枚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04850" y="4762500"/>
            <a:ext cx="3619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アイリスオーヤマ HUGEL 40L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4476750" y="4781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Rounded Rectangle 60"/>
          <p:cNvSpPr/>
          <p:nvPr/>
        </p:nvSpPr>
        <p:spPr>
          <a:xfrm>
            <a:off x="5334000" y="4781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Rounded Rectangle 61"/>
          <p:cNvSpPr/>
          <p:nvPr/>
        </p:nvSpPr>
        <p:spPr>
          <a:xfrm>
            <a:off x="6191250" y="4781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3" name="Rounded Rectangle 62"/>
          <p:cNvSpPr/>
          <p:nvPr/>
        </p:nvSpPr>
        <p:spPr>
          <a:xfrm>
            <a:off x="7048500" y="4781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Rounded Rectangle 63"/>
          <p:cNvSpPr/>
          <p:nvPr/>
        </p:nvSpPr>
        <p:spPr>
          <a:xfrm>
            <a:off x="7905750" y="4781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Rounded Rectangle 64"/>
          <p:cNvSpPr/>
          <p:nvPr/>
        </p:nvSpPr>
        <p:spPr>
          <a:xfrm>
            <a:off x="8763000" y="4781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Rounded Rectangle 65"/>
          <p:cNvSpPr/>
          <p:nvPr/>
        </p:nvSpPr>
        <p:spPr>
          <a:xfrm>
            <a:off x="9620250" y="4781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10553700" y="4762500"/>
            <a:ext cx="8572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7枚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同じ「入る」でも、製品で1枚と7枚に分かれます。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ダイワ「KEEP」と シマノ「COOL」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名前は違っても、同じ物差しでした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測り方は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同じ</a:t>
            </a:r>
            <a:r>
              <a:rPr sz="1950" b="1">
                <a:solidFill>
                  <a:srgbClr val="014172"/>
                </a:solidFill>
                <a:latin typeface="Yu Gothic UI"/>
              </a:rPr>
              <a:t/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0100" y="1866900"/>
            <a:ext cx="4286250" cy="1428750"/>
          </a:xfrm>
          <a:prstGeom prst="roundRect">
            <a:avLst>
              <a:gd name="adj" fmla="val 5000"/>
            </a:avLst>
          </a:prstGeom>
          <a:solidFill>
            <a:srgbClr val="F2F5F8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47750" y="2152650"/>
            <a:ext cx="38100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550" b="1">
                <a:solidFill>
                  <a:srgbClr val="014172"/>
                </a:solidFill>
                <a:latin typeface="Yu Gothic UI"/>
              </a:rPr>
              <a:t>KEEP</a:t>
            </a:r>
            <a:r>
              <a:rPr sz="1950" b="1">
                <a:solidFill>
                  <a:srgbClr val="2E2E33"/>
                </a:solidFill>
                <a:latin typeface="Yu Gothic UI"/>
              </a:rPr>
              <a:t>  26 〜 90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7750" y="2781300"/>
            <a:ext cx="3810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0">
                <a:solidFill>
                  <a:srgbClr val="6A717B"/>
                </a:solidFill>
                <a:latin typeface="Yu Gothic UI"/>
              </a:rPr>
              <a:t>ダイワ クールラインα3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848350" y="1866900"/>
            <a:ext cx="4286250" cy="1428750"/>
          </a:xfrm>
          <a:prstGeom prst="roundRect">
            <a:avLst>
              <a:gd name="adj" fmla="val 5000"/>
            </a:avLst>
          </a:prstGeom>
          <a:solidFill>
            <a:srgbClr val="F2F5F8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96000" y="2152650"/>
            <a:ext cx="38100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550" b="1">
                <a:solidFill>
                  <a:srgbClr val="014172"/>
                </a:solidFill>
                <a:latin typeface="Yu Gothic UI"/>
              </a:rPr>
              <a:t>COOL</a:t>
            </a:r>
            <a:r>
              <a:rPr sz="1950" b="1">
                <a:solidFill>
                  <a:srgbClr val="2E2E33"/>
                </a:solidFill>
                <a:latin typeface="Yu Gothic UI"/>
              </a:rPr>
              <a:t>  32 〜 140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96000" y="2781300"/>
            <a:ext cx="3810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0">
                <a:solidFill>
                  <a:srgbClr val="6A717B"/>
                </a:solidFill>
                <a:latin typeface="Yu Gothic UI"/>
              </a:rPr>
              <a:t>シマノ フィクセル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57250" y="3600450"/>
            <a:ext cx="9715500" cy="1447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43000" y="3848100"/>
            <a:ext cx="8572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650" b="1">
                <a:solidFill>
                  <a:srgbClr val="2E2E33"/>
                </a:solidFill>
                <a:latin typeface="Yu Gothic UI"/>
              </a:rPr>
              <a:t>どちらも JIS S 2048：2006 の簡便法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4229100"/>
            <a:ext cx="8953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0">
                <a:solidFill>
                  <a:srgbClr val="6A717B"/>
                </a:solidFill>
                <a:latin typeface="Yu Gothic UI"/>
              </a:rPr>
              <a:t>外気40℃ ／ 本体容量の25%の角氷 ／ 氷が溶け切るまでの時間に換算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3000" y="4572000"/>
            <a:ext cx="8953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0">
                <a:solidFill>
                  <a:srgbClr val="6A717B"/>
                </a:solidFill>
                <a:latin typeface="Yu Gothic UI"/>
              </a:rPr>
              <a:t>両社とも「目安であり保証値ではない」と明記しています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名前が違うだけで、中身は同じ物差しです。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両社の公表資料で確認しました（実測ではありません）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同じ「9号まで」でも幅が違う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横棒は本体幅。破線は9号土鍋でいちばん幅のある墨貫入（32.5cm）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土鍋との差は最大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6.6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cm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5300" y="1676400"/>
            <a:ext cx="10439400" cy="4000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95300" y="2152650"/>
            <a:ext cx="10439400" cy="4000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95300" y="2628900"/>
            <a:ext cx="10439400" cy="4000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95300" y="3105150"/>
            <a:ext cx="10439400" cy="4000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95300" y="3581400"/>
            <a:ext cx="10439400" cy="4000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95300" y="4057650"/>
            <a:ext cx="10439400" cy="4000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95300" y="4533900"/>
            <a:ext cx="10439400" cy="400050"/>
          </a:xfrm>
          <a:prstGeom prst="rect">
            <a:avLst/>
          </a:prstGeom>
          <a:solidFill>
            <a:srgbClr val="E6EEF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95300" y="4533900"/>
            <a:ext cx="47625" cy="4000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3143250" y="1752600"/>
            <a:ext cx="5373624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04850" y="1752600"/>
            <a:ext cx="238125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1">
                <a:solidFill>
                  <a:srgbClr val="2E2E33"/>
                </a:solidFill>
                <a:latin typeface="Yu Gothic UI"/>
              </a:rPr>
              <a:t>スリム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31174" y="1752600"/>
            <a:ext cx="104775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014172"/>
                </a:solidFill>
                <a:latin typeface="Yu Gothic UI"/>
              </a:rPr>
              <a:t>32.8cm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143250" y="2228850"/>
            <a:ext cx="5471922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4850" y="2228850"/>
            <a:ext cx="238125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1">
                <a:solidFill>
                  <a:srgbClr val="2E2E33"/>
                </a:solidFill>
                <a:latin typeface="Yu Gothic UI"/>
              </a:rPr>
              <a:t>スマート／ウィンドシールド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29472" y="2228850"/>
            <a:ext cx="104775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014172"/>
                </a:solidFill>
                <a:latin typeface="Yu Gothic UI"/>
              </a:rPr>
              <a:t>33.4cm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143250" y="2705100"/>
            <a:ext cx="5488305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04850" y="2705100"/>
            <a:ext cx="238125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1">
                <a:solidFill>
                  <a:srgbClr val="2E2E33"/>
                </a:solidFill>
                <a:latin typeface="Yu Gothic UI"/>
              </a:rPr>
              <a:t>達人スリムV／達人スリムβ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45855" y="2705100"/>
            <a:ext cx="104775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014172"/>
                </a:solidFill>
                <a:latin typeface="Yu Gothic UI"/>
              </a:rPr>
              <a:t>33.5cm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143250" y="3181350"/>
            <a:ext cx="5521071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04850" y="3181350"/>
            <a:ext cx="238125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1">
                <a:solidFill>
                  <a:srgbClr val="2E2E33"/>
                </a:solidFill>
                <a:latin typeface="Yu Gothic UI"/>
              </a:rPr>
              <a:t>BO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778621" y="3181350"/>
            <a:ext cx="104775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014172"/>
                </a:solidFill>
                <a:latin typeface="Yu Gothic UI"/>
              </a:rPr>
              <a:t>33.7cm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143250" y="3657600"/>
            <a:ext cx="5815965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04850" y="3657600"/>
            <a:ext cx="238125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1">
                <a:solidFill>
                  <a:srgbClr val="2E2E33"/>
                </a:solidFill>
                <a:latin typeface="Yu Gothic UI"/>
              </a:rPr>
              <a:t>アモルフォプレミアム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073515" y="3657600"/>
            <a:ext cx="104775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014172"/>
                </a:solidFill>
                <a:latin typeface="Yu Gothic UI"/>
              </a:rPr>
              <a:t>35.5cm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143250" y="4133850"/>
            <a:ext cx="5873306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04850" y="4133850"/>
            <a:ext cx="238125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1">
                <a:solidFill>
                  <a:srgbClr val="2E2E33"/>
                </a:solidFill>
                <a:latin typeface="Yu Gothic UI"/>
              </a:rPr>
              <a:t>雅SLIM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30856" y="4133850"/>
            <a:ext cx="104775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014172"/>
                </a:solidFill>
                <a:latin typeface="Yu Gothic UI"/>
              </a:rPr>
              <a:t>35.85cm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143250" y="4610100"/>
            <a:ext cx="6405753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04850" y="4610100"/>
            <a:ext cx="238125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1">
                <a:solidFill>
                  <a:srgbClr val="2E2E33"/>
                </a:solidFill>
                <a:latin typeface="Yu Gothic UI"/>
              </a:rPr>
              <a:t>極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63303" y="4610100"/>
            <a:ext cx="104775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014172"/>
                </a:solidFill>
                <a:latin typeface="Yu Gothic UI"/>
              </a:rPr>
              <a:t>39.1cm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467725" y="1619250"/>
            <a:ext cx="9525" cy="3276600"/>
          </a:xfrm>
          <a:prstGeom prst="rect">
            <a:avLst/>
          </a:prstGeom>
          <a:noFill/>
          <a:ln w="19050">
            <a:solidFill>
              <a:srgbClr val="A8410F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229475" y="4991100"/>
            <a:ext cx="2476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1">
                <a:solidFill>
                  <a:srgbClr val="A8410F"/>
                </a:solidFill>
                <a:latin typeface="Yu Gothic UI"/>
              </a:rPr>
              <a:t>9号土鍋 32.5cm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「9号まで」は号数の目安で、寸法ではありません。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ボンベ1本は55〜78分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濃い部分が「250g ÷ ガス消費量」。薄い部分まで伸びると公表の連続燃焼時間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いちばん長くて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78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分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5300" y="1676400"/>
            <a:ext cx="10439400" cy="4762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95300" y="2228850"/>
            <a:ext cx="10439400" cy="4762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95300" y="2781300"/>
            <a:ext cx="10439400" cy="4762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95300" y="3333750"/>
            <a:ext cx="10439400" cy="4762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95300" y="3886200"/>
            <a:ext cx="10439400" cy="4762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95300" y="4438650"/>
            <a:ext cx="10439400" cy="476250"/>
          </a:xfrm>
          <a:prstGeom prst="rect">
            <a:avLst/>
          </a:prstGeom>
          <a:solidFill>
            <a:srgbClr val="E6EEF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95300" y="4438650"/>
            <a:ext cx="47625" cy="4762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000500" y="1771650"/>
            <a:ext cx="2933700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04850" y="1714500"/>
            <a:ext cx="31432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BO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4850" y="1943100"/>
            <a:ext cx="31432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286g/h ／ ＋3分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48500" y="1771650"/>
            <a:ext cx="952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55分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000500" y="2324100"/>
            <a:ext cx="4160520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4850" y="2266950"/>
            <a:ext cx="31432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スマート／ウィンドシールド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850" y="2495550"/>
            <a:ext cx="31432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254g/h ／ ＋19分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75320" y="2324100"/>
            <a:ext cx="952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78分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000500" y="2876550"/>
            <a:ext cx="3627120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04850" y="2819400"/>
            <a:ext cx="31432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達人スリムV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4850" y="3048000"/>
            <a:ext cx="31432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245g/h ／ ＋7分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41920" y="2876550"/>
            <a:ext cx="952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68分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000500" y="3429000"/>
            <a:ext cx="3733800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04850" y="3371850"/>
            <a:ext cx="31432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スリム ほか2機種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4850" y="3600450"/>
            <a:ext cx="31432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236g/h ／ ＋6分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848600" y="3429000"/>
            <a:ext cx="952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70分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000500" y="3981450"/>
            <a:ext cx="3840480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04850" y="3924300"/>
            <a:ext cx="31432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エコプレミアムIII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04850" y="4152900"/>
            <a:ext cx="31432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210g/h ／ ＋1分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955280" y="3981450"/>
            <a:ext cx="952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72分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000500" y="4533900"/>
            <a:ext cx="5974080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04850" y="4476750"/>
            <a:ext cx="31432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ミニ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4850" y="4705350"/>
            <a:ext cx="31432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135g/h ／ ＋1分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088880" y="4533900"/>
            <a:ext cx="952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112分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火力が強い機種ほど、早く使い切ります。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6本に届くのは「全部まかなう」とき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1人・1週間あたり ／ 気温10℃での計算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全部まかなっても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5.8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本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5300" y="1905000"/>
            <a:ext cx="10439400" cy="647700"/>
          </a:xfrm>
          <a:prstGeom prst="rect">
            <a:avLst/>
          </a:prstGeom>
          <a:solidFill>
            <a:srgbClr val="E6EEF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95300" y="1905000"/>
            <a:ext cx="47625" cy="64770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95300" y="2628900"/>
            <a:ext cx="10439400" cy="64770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95300" y="3352800"/>
            <a:ext cx="10439400" cy="64770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95300" y="4076700"/>
            <a:ext cx="10439400" cy="64770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095750" y="2057400"/>
            <a:ext cx="5248275" cy="3238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04850" y="2019300"/>
            <a:ext cx="33337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食事＋カップ麺＋飲み物＋お湯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4850" y="2266950"/>
            <a:ext cx="33337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全部まかなう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458325" y="2057400"/>
            <a:ext cx="952500" cy="3238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014172"/>
                </a:solidFill>
                <a:latin typeface="Yu Gothic UI"/>
              </a:rPr>
              <a:t>5.8本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095750" y="2781300"/>
            <a:ext cx="4071938" cy="3238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4850" y="2743200"/>
            <a:ext cx="33337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食事＋飲み物＋お湯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4850" y="2990850"/>
            <a:ext cx="33337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カップ麺なし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81988" y="2781300"/>
            <a:ext cx="952500" cy="3238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014172"/>
                </a:solidFill>
                <a:latin typeface="Yu Gothic UI"/>
              </a:rPr>
              <a:t>4.5本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095750" y="3505200"/>
            <a:ext cx="2895600" cy="3238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04850" y="3467100"/>
            <a:ext cx="33337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食事＋飲み物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4850" y="3714750"/>
            <a:ext cx="33337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お湯を沸かさない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05650" y="3505200"/>
            <a:ext cx="952500" cy="3238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014172"/>
                </a:solidFill>
                <a:latin typeface="Yu Gothic UI"/>
              </a:rPr>
              <a:t>3.2本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095750" y="4229100"/>
            <a:ext cx="2262188" cy="3238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04850" y="4191000"/>
            <a:ext cx="33337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食事だけ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4850" y="4438650"/>
            <a:ext cx="33337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1日3回のレトルト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72238" y="4229100"/>
            <a:ext cx="952500" cy="3238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014172"/>
                </a:solidFill>
                <a:latin typeface="Yu Gothic UI"/>
              </a:rPr>
              <a:t>2.5本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525000" y="1828800"/>
            <a:ext cx="9525" cy="2857500"/>
          </a:xfrm>
          <a:prstGeom prst="rect">
            <a:avLst/>
          </a:prstGeom>
          <a:noFill/>
          <a:ln w="19050">
            <a:solidFill>
              <a:srgbClr val="A8410F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620000" y="1581150"/>
            <a:ext cx="2476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A8410F"/>
                </a:solidFill>
                <a:latin typeface="Yu Gothic UI"/>
              </a:rPr>
              <a:t>農林水産省の目安 6本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「1人6本」はカップ麺まで含めた全部の想定でした。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農水省とイワタニの公表値からの計算です（実測ではありません）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土鍋の「号数」は幅を決めていません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銀峯陶器の公表寸法。同じ号数でもシリーズで幅が違う（幅は取手込み）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コンロの本体幅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33.4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cm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5300" y="1771650"/>
            <a:ext cx="10439400" cy="5524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95300" y="2400300"/>
            <a:ext cx="10439400" cy="5524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95300" y="3028950"/>
            <a:ext cx="10439400" cy="5524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95300" y="3657600"/>
            <a:ext cx="10439400" cy="552450"/>
          </a:xfrm>
          <a:prstGeom prst="rect">
            <a:avLst/>
          </a:prstGeom>
          <a:solidFill>
            <a:srgbClr val="E6EEF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95300" y="3657600"/>
            <a:ext cx="47625" cy="5524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95300" y="4286250"/>
            <a:ext cx="10439400" cy="5524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486150" y="1905000"/>
            <a:ext cx="209550" cy="2857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4850" y="1905000"/>
            <a:ext cx="1714500" cy="2857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2E2E33"/>
                </a:solidFill>
                <a:latin typeface="Yu Gothic UI"/>
              </a:rPr>
              <a:t>6号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29050" y="1905000"/>
            <a:ext cx="1714500" cy="2857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21〜22cm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114800" y="2533650"/>
            <a:ext cx="523875" cy="2857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4850" y="2533650"/>
            <a:ext cx="1714500" cy="2857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2E2E33"/>
                </a:solidFill>
                <a:latin typeface="Yu Gothic UI"/>
              </a:rPr>
              <a:t>7号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72025" y="2533650"/>
            <a:ext cx="1714500" cy="2857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24〜26.5cm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743450" y="3162300"/>
            <a:ext cx="523875" cy="2857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4850" y="3162300"/>
            <a:ext cx="1714500" cy="2857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2E2E33"/>
                </a:solidFill>
                <a:latin typeface="Yu Gothic UI"/>
              </a:rPr>
              <a:t>8号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00675" y="3162300"/>
            <a:ext cx="1714500" cy="2857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27〜29.5cm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581650" y="3790950"/>
            <a:ext cx="314325" cy="2857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04850" y="3790950"/>
            <a:ext cx="1714500" cy="2857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2E2E33"/>
                </a:solidFill>
                <a:latin typeface="Yu Gothic UI"/>
              </a:rPr>
              <a:t>9号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29325" y="3790950"/>
            <a:ext cx="1714500" cy="2857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31〜32.5cm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10300" y="4419600"/>
            <a:ext cx="419100" cy="2857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04850" y="4419600"/>
            <a:ext cx="1714500" cy="2857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2E2E33"/>
                </a:solidFill>
                <a:latin typeface="Yu Gothic UI"/>
              </a:rPr>
              <a:t>10号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62750" y="4419600"/>
            <a:ext cx="1714500" cy="2857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34〜36cm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084570" y="1695450"/>
            <a:ext cx="9525" cy="3067050"/>
          </a:xfrm>
          <a:prstGeom prst="rect">
            <a:avLst/>
          </a:prstGeom>
          <a:noFill/>
          <a:ln w="19050">
            <a:solidFill>
              <a:srgbClr val="A8410F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513070" y="1447800"/>
            <a:ext cx="4000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A8410F"/>
                </a:solidFill>
                <a:latin typeface="Yu Gothic UI"/>
              </a:rPr>
              <a:t>カセットコンロの本体幅 33.4cm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同じ号数でも、シリーズで幅が違います。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同じ「180」でも天板の高さが違う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型番に180が付く4シリーズのメーカー公表値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実際に立てるのは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1.40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m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5300" y="1676400"/>
            <a:ext cx="10439400" cy="57150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95300" y="2324100"/>
            <a:ext cx="10439400" cy="57150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95300" y="2971800"/>
            <a:ext cx="10439400" cy="57150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95300" y="3619500"/>
            <a:ext cx="10439400" cy="57150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95300" y="4267200"/>
            <a:ext cx="10439400" cy="571500"/>
          </a:xfrm>
          <a:prstGeom prst="rect">
            <a:avLst/>
          </a:prstGeom>
          <a:solidFill>
            <a:srgbClr val="E6EEF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95300" y="4267200"/>
            <a:ext cx="47625" cy="57150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810000" y="1828800"/>
            <a:ext cx="5829300" cy="2857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4850" y="1771650"/>
            <a:ext cx="3048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アルインコ BSA-180A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4850" y="2019300"/>
            <a:ext cx="3048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専用脚立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753600" y="1828800"/>
            <a:ext cx="1047750" cy="2857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1.80m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810000" y="2476500"/>
            <a:ext cx="5829300" cy="2857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04850" y="2419350"/>
            <a:ext cx="3048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ピカ SEC-S180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4850" y="2667000"/>
            <a:ext cx="3048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専用脚立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53600" y="2476500"/>
            <a:ext cx="1047750" cy="2857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1.80m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810000" y="3124200"/>
            <a:ext cx="5505450" cy="2857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04850" y="3067050"/>
            <a:ext cx="3048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長谷川工業 RHB-18a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4850" y="3314700"/>
            <a:ext cx="3048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はしご兼用脚立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429750" y="3124200"/>
            <a:ext cx="1047750" cy="2857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1.70m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810000" y="3771900"/>
            <a:ext cx="5440680" cy="2857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04850" y="3714750"/>
            <a:ext cx="3048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ピカ MCX-180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4850" y="3962400"/>
            <a:ext cx="3048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はしご兼用脚立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64980" y="3771900"/>
            <a:ext cx="1047750" cy="2857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1.68m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810000" y="4419600"/>
            <a:ext cx="4533900" cy="2857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FDF2E4"/>
              </a:gs>
              <a:gs pos="100000">
                <a:srgbClr val="FDF2E4"/>
              </a:gs>
            </a:gsLst>
            <a:lin scaled="0" ang="16200000"/>
          </a:gradFill>
          <a:ln w="19050">
            <a:solidFill>
              <a:srgbClr val="A8410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04850" y="4362450"/>
            <a:ext cx="3048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RHB-18a に立てる高さ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04850" y="4610100"/>
            <a:ext cx="3048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天板には乗れません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58200" y="4419600"/>
            <a:ext cx="1047750" cy="2857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A8410F"/>
                </a:solidFill>
                <a:latin typeface="Yu Gothic UI"/>
              </a:rPr>
              <a:t>1.40m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専用脚立は型番＝天板高さ。はしご兼用脚立は型番より9〜12cm低い値でした。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同じ高さに立つのに 1.7kg と 6.3kg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足を置ける高さが0.5〜0.6mの5製品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いちばん重いもの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6.3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kg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5300" y="1676400"/>
            <a:ext cx="10439400" cy="57150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95300" y="2324100"/>
            <a:ext cx="10439400" cy="57150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95300" y="2971800"/>
            <a:ext cx="10439400" cy="57150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95300" y="3619500"/>
            <a:ext cx="10439400" cy="57150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95300" y="4267200"/>
            <a:ext cx="10439400" cy="571500"/>
          </a:xfrm>
          <a:prstGeom prst="rect">
            <a:avLst/>
          </a:prstGeom>
          <a:solidFill>
            <a:srgbClr val="E6EEF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95300" y="4267200"/>
            <a:ext cx="47625" cy="57150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095750" y="1828800"/>
            <a:ext cx="1489710" cy="2857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4850" y="1771650"/>
            <a:ext cx="33337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アルインコ CCA-60K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4850" y="2019300"/>
            <a:ext cx="33337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踏台 ／ 0.56m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99760" y="1828800"/>
            <a:ext cx="1047750" cy="2857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1.7kg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095750" y="2476500"/>
            <a:ext cx="1577340" cy="2857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04850" y="2419350"/>
            <a:ext cx="33337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長谷川工業 SE-6a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4850" y="2667000"/>
            <a:ext cx="33337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踏台 ／ 0.56m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787390" y="2476500"/>
            <a:ext cx="1047750" cy="2857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1.8kg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095750" y="3124200"/>
            <a:ext cx="3067050" cy="2857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04850" y="3067050"/>
            <a:ext cx="33337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長谷川工業 EFA-05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4850" y="3314700"/>
            <a:ext cx="33337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踏台（上わく付き）／ 0.51m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77100" y="3124200"/>
            <a:ext cx="1047750" cy="2857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3.5kg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095750" y="3771900"/>
            <a:ext cx="3154680" cy="2857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04850" y="3714750"/>
            <a:ext cx="33337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長谷川工業 RHB-09a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4850" y="3962400"/>
            <a:ext cx="33337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はしご兼用脚立 ／ 0.50m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64730" y="3771900"/>
            <a:ext cx="1047750" cy="2857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3.6kg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095750" y="4419600"/>
            <a:ext cx="5520690" cy="2857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04850" y="4362450"/>
            <a:ext cx="33337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長谷川工業 SWH-09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04850" y="4610100"/>
            <a:ext cx="33337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強力型脚立 ／ 0.60m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730740" y="4419600"/>
            <a:ext cx="1047750" cy="2857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6.3kg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踏台は天板高さ、脚立は使用最大高さでそろえています。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伸縮脚は21〜45cm。階段には届きません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3社5シリーズの公表値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階段で必要な高低差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69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cm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5300" y="1676400"/>
            <a:ext cx="10439400" cy="5143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95300" y="2266950"/>
            <a:ext cx="10439400" cy="5143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95300" y="2857500"/>
            <a:ext cx="10439400" cy="5143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95300" y="3448050"/>
            <a:ext cx="10439400" cy="5143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95300" y="4038600"/>
            <a:ext cx="10439400" cy="5143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95300" y="4629150"/>
            <a:ext cx="10439400" cy="514350"/>
          </a:xfrm>
          <a:prstGeom prst="rect">
            <a:avLst/>
          </a:prstGeom>
          <a:solidFill>
            <a:srgbClr val="E6EEF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95300" y="4629150"/>
            <a:ext cx="47625" cy="5143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095750" y="1809750"/>
            <a:ext cx="1720215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04850" y="1752600"/>
            <a:ext cx="33337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長谷川工業 RZS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4850" y="1981200"/>
            <a:ext cx="33337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脚軽伸縮タイプ／専用脚立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30265" y="1809750"/>
            <a:ext cx="10477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21cm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095750" y="2400300"/>
            <a:ext cx="2539365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4850" y="2343150"/>
            <a:ext cx="33337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長谷川工業 RYZB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850" y="2571750"/>
            <a:ext cx="33337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はしご兼用伸縮脚立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49415" y="2400300"/>
            <a:ext cx="10477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31cm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095750" y="2990850"/>
            <a:ext cx="2539365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04850" y="2933700"/>
            <a:ext cx="33337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ピカ スタッピー SXJ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4850" y="3162300"/>
            <a:ext cx="33337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四脚アジャスト式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49415" y="2990850"/>
            <a:ext cx="10477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31cm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095750" y="3581400"/>
            <a:ext cx="3604260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04850" y="3524250"/>
            <a:ext cx="33337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アルインコ PRT-FX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4850" y="3752850"/>
            <a:ext cx="33337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伸縮脚付専用脚立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814310" y="3581400"/>
            <a:ext cx="10477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44cm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095750" y="4171950"/>
            <a:ext cx="3686175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04850" y="4114800"/>
            <a:ext cx="33337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ピカ かるノビ SCL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04850" y="4343400"/>
            <a:ext cx="33337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階段用／前後の脚の長さが違う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896225" y="4171950"/>
            <a:ext cx="10477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45cm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095750" y="4762500"/>
            <a:ext cx="5652135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FDF2E4"/>
              </a:gs>
              <a:gs pos="100000">
                <a:srgbClr val="FDF2E4"/>
              </a:gs>
            </a:gsLst>
            <a:lin scaled="0" ang="16200000"/>
          </a:gradFill>
          <a:ln w="19050">
            <a:solidFill>
              <a:srgbClr val="A8410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04850" y="4705350"/>
            <a:ext cx="33337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階段で必要な高低差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4850" y="4933950"/>
            <a:ext cx="33337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踏面15cm・蹴上げ23cm・3段ぶん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862185" y="4762500"/>
            <a:ext cx="10477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A8410F"/>
                </a:solidFill>
                <a:latin typeface="Yu Gothic UI"/>
              </a:rPr>
              <a:t>69cm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前脚と後脚は3段離れます。1段で済ませるには踏面が28cm近く必要でした。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「踏台」の天板は0.30mから1.61mまで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メーカーが呼び分けている天板高さの範囲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踏台なのに最大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1.61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m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5300" y="1905000"/>
            <a:ext cx="10439400" cy="72390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95300" y="2705100"/>
            <a:ext cx="10439400" cy="723900"/>
          </a:xfrm>
          <a:prstGeom prst="rect">
            <a:avLst/>
          </a:prstGeom>
          <a:solidFill>
            <a:srgbClr val="E6EEF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95300" y="2705100"/>
            <a:ext cx="47625" cy="72390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95300" y="3505200"/>
            <a:ext cx="10439400" cy="72390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362450" y="2095500"/>
            <a:ext cx="1213485" cy="3238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04850" y="2038350"/>
            <a:ext cx="2857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踏台（上わくなし）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4850" y="22860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0.30 〜 0.79m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882515" y="2895600"/>
            <a:ext cx="2724150" cy="3238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04850" y="2838450"/>
            <a:ext cx="2857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踏台（上わく付き）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4850" y="30861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0.51 〜 1.61m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882515" y="3695700"/>
            <a:ext cx="5423535" cy="3238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04850" y="3638550"/>
            <a:ext cx="2857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脚立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4850" y="38862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0.51 〜 2.70m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600700" y="1809750"/>
            <a:ext cx="9525" cy="2305050"/>
          </a:xfrm>
          <a:prstGeom prst="rect">
            <a:avLst/>
          </a:prstGeom>
          <a:noFill/>
          <a:ln w="19050">
            <a:solidFill>
              <a:srgbClr val="A8410F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743450" y="1562100"/>
            <a:ext cx="2857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A8410F"/>
                </a:solidFill>
                <a:latin typeface="Yu Gothic UI"/>
              </a:rPr>
              <a:t>天板高さ 80cm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429000" y="4267200"/>
            <a:ext cx="571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05500" y="4267200"/>
            <a:ext cx="571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1m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82000" y="4267200"/>
            <a:ext cx="571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2m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上わくが付くと、80cmを超えても「踏台」と呼ばれていました。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届きたい高さ − 身長 ＝ 必要な足場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長谷川工業の「身長＋天板高さ＝作業高さ」を逆に使う（身長160cm基準）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2.4mに届くには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0.8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m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200150" y="1771650"/>
            <a:ext cx="2476500" cy="1028700"/>
          </a:xfrm>
          <a:prstGeom prst="roundRect">
            <a:avLst>
              <a:gd name="adj" fmla="val 6000"/>
            </a:avLst>
          </a:prstGeom>
          <a:solidFill>
            <a:srgbClr val="F2F5F8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28750" y="1943100"/>
            <a:ext cx="2095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6A717B"/>
                </a:solidFill>
                <a:latin typeface="Yu Gothic UI"/>
              </a:rPr>
              <a:t>届きたい高さ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28750" y="2266950"/>
            <a:ext cx="2095500" cy="4191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550" b="1">
                <a:solidFill>
                  <a:srgbClr val="014172"/>
                </a:solidFill>
                <a:latin typeface="Yu Gothic UI"/>
              </a:rPr>
              <a:t>2.4m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33900" y="1771650"/>
            <a:ext cx="2476500" cy="1028700"/>
          </a:xfrm>
          <a:prstGeom prst="roundRect">
            <a:avLst>
              <a:gd name="adj" fmla="val 6000"/>
            </a:avLst>
          </a:prstGeom>
          <a:solidFill>
            <a:srgbClr val="F2F5F8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62500" y="1943100"/>
            <a:ext cx="2095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6A717B"/>
                </a:solidFill>
                <a:latin typeface="Yu Gothic UI"/>
              </a:rPr>
              <a:t>身長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62500" y="2266950"/>
            <a:ext cx="2095500" cy="4191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550" b="1">
                <a:solidFill>
                  <a:srgbClr val="014172"/>
                </a:solidFill>
                <a:latin typeface="Yu Gothic UI"/>
              </a:rPr>
              <a:t>1.6m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962900" y="1771650"/>
            <a:ext cx="2476500" cy="1028700"/>
          </a:xfrm>
          <a:prstGeom prst="roundRect">
            <a:avLst>
              <a:gd name="adj" fmla="val 6000"/>
            </a:avLst>
          </a:prstGeom>
          <a:solidFill>
            <a:srgbClr val="E6EEF6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91500" y="1943100"/>
            <a:ext cx="2095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6A717B"/>
                </a:solidFill>
                <a:latin typeface="Yu Gothic UI"/>
              </a:rPr>
              <a:t>必要な足場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91500" y="2266950"/>
            <a:ext cx="2095500" cy="4191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550" b="1">
                <a:solidFill>
                  <a:srgbClr val="014172"/>
                </a:solidFill>
                <a:latin typeface="Yu Gothic UI"/>
              </a:rPr>
              <a:t>0.8m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019550" y="2076450"/>
            <a:ext cx="571500" cy="4191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250" b="1">
                <a:solidFill>
                  <a:srgbClr val="6A717B"/>
                </a:solidFill>
                <a:latin typeface="Yu Gothic UI"/>
              </a:rPr>
              <a:t>−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86650" y="2076450"/>
            <a:ext cx="571500" cy="4191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250" b="1">
                <a:solidFill>
                  <a:srgbClr val="6A717B"/>
                </a:solidFill>
                <a:latin typeface="Yu Gothic UI"/>
              </a:rPr>
              <a:t>＝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3048000"/>
            <a:ext cx="4762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2E2E33"/>
                </a:solidFill>
                <a:latin typeface="Yu Gothic UI"/>
              </a:rPr>
              <a:t>0.8m に足を置ける3つの選び方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04850" y="3390900"/>
            <a:ext cx="3048000" cy="142875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4400" y="3581400"/>
            <a:ext cx="27622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6A717B"/>
                </a:solidFill>
                <a:latin typeface="Yu Gothic UI"/>
              </a:rPr>
              <a:t>踏台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" y="3848100"/>
            <a:ext cx="276225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アルインコ CCA-80K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" y="4152900"/>
            <a:ext cx="276225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0.79m ／ 2.5kg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4476750"/>
            <a:ext cx="27622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いちばん軽く、短くしまえる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133850" y="3390900"/>
            <a:ext cx="3048000" cy="142875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343400" y="3581400"/>
            <a:ext cx="27622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6A717B"/>
                </a:solidFill>
                <a:latin typeface="Yu Gothic UI"/>
              </a:rPr>
              <a:t>踏台（上わく付き）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43400" y="3848100"/>
            <a:ext cx="276225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アルインコ TBF-4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43400" y="4152900"/>
            <a:ext cx="276225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0.77m ／ 3.8kg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43400" y="4476750"/>
            <a:ext cx="27622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手すりが天板の60cm上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562850" y="3390900"/>
            <a:ext cx="3048000" cy="142875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772400" y="3581400"/>
            <a:ext cx="27622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6A717B"/>
                </a:solidFill>
                <a:latin typeface="Yu Gothic UI"/>
              </a:rPr>
              <a:t>はしご兼用脚立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0" y="3848100"/>
            <a:ext cx="276225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長谷川工業 RHB-12a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72400" y="4152900"/>
            <a:ext cx="276225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0.80m ／ 4.5kg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72400" y="4476750"/>
            <a:ext cx="27622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天板には乗れない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脚立の「足を置ける高さ」は天板高さではなく、使用最大高さです。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1.5L も 2L とほぼ同じ高さ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棒がボトルの全高、線がクーラーボックスの内寸の深さ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立つのは深さ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310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mm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5300" y="1771650"/>
            <a:ext cx="10439400" cy="4762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95300" y="2324100"/>
            <a:ext cx="10439400" cy="4762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95300" y="2876550"/>
            <a:ext cx="10439400" cy="4762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95300" y="3429000"/>
            <a:ext cx="10439400" cy="4762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95300" y="3981450"/>
            <a:ext cx="10439400" cy="476250"/>
          </a:xfrm>
          <a:prstGeom prst="rect">
            <a:avLst/>
          </a:prstGeom>
          <a:solidFill>
            <a:srgbClr val="E6EEF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95300" y="3981450"/>
            <a:ext cx="47625" cy="4762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572000" y="1885950"/>
            <a:ext cx="3248025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F2F5F8"/>
              </a:gs>
              <a:gs pos="100000">
                <a:srgbClr val="F2F5F8"/>
              </a:gs>
            </a:gsLst>
            <a:lin scaled="0" ang="16200000"/>
          </a:gradFill>
          <a:ln w="19050">
            <a:solidFill>
              <a:srgbClr val="6A717B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4850" y="1885950"/>
            <a:ext cx="3619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ダイワ10L・20L　内寸の深さ 220mm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34325" y="1885950"/>
            <a:ext cx="1524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6A717B"/>
                </a:solidFill>
                <a:latin typeface="Yu Gothic UI"/>
              </a:rPr>
              <a:t>立たない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0" y="2438400"/>
            <a:ext cx="3395662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F2F5F8"/>
              </a:gs>
              <a:gs pos="100000">
                <a:srgbClr val="F2F5F8"/>
              </a:gs>
            </a:gsLst>
            <a:lin scaled="0" ang="16200000"/>
          </a:gradFill>
          <a:ln w="19050">
            <a:solidFill>
              <a:srgbClr val="6A717B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4850" y="2438400"/>
            <a:ext cx="3619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ダイワ15L　内寸の深さ 230mm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81962" y="2438400"/>
            <a:ext cx="1524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6A717B"/>
                </a:solidFill>
                <a:latin typeface="Yu Gothic UI"/>
              </a:rPr>
              <a:t>立たない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0" y="2990850"/>
            <a:ext cx="3587591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F2F5F8"/>
              </a:gs>
              <a:gs pos="100000">
                <a:srgbClr val="F2F5F8"/>
              </a:gs>
            </a:gsLst>
            <a:lin scaled="0" ang="16200000"/>
          </a:gradFill>
          <a:ln w="19050">
            <a:solidFill>
              <a:srgbClr val="6A717B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4850" y="2990850"/>
            <a:ext cx="3619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ロゴス・アイリス　内寸の深さ 243mm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73891" y="2990850"/>
            <a:ext cx="1524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6A717B"/>
                </a:solidFill>
                <a:latin typeface="Yu Gothic UI"/>
              </a:rPr>
              <a:t>立たない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72000" y="3543300"/>
            <a:ext cx="3764756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F2F5F8"/>
              </a:gs>
              <a:gs pos="100000">
                <a:srgbClr val="F2F5F8"/>
              </a:gs>
            </a:gsLst>
            <a:lin scaled="0" ang="16200000"/>
          </a:gradFill>
          <a:ln w="19050">
            <a:solidFill>
              <a:srgbClr val="6A717B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04850" y="3543300"/>
            <a:ext cx="3619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ダイワ25L　内寸の深さ 255mm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51056" y="3543300"/>
            <a:ext cx="1524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6A717B"/>
                </a:solidFill>
                <a:latin typeface="Yu Gothic UI"/>
              </a:rPr>
              <a:t>立たない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0" y="4095750"/>
            <a:ext cx="4576762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04850" y="4095750"/>
            <a:ext cx="3619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アイリス40L　内寸の深さ 310mm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63062" y="4095750"/>
            <a:ext cx="1524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014172"/>
                </a:solidFill>
                <a:latin typeface="Yu Gothic UI"/>
              </a:rPr>
              <a:t>2Lが立つ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089708" y="1695450"/>
            <a:ext cx="9525" cy="2686050"/>
          </a:xfrm>
          <a:prstGeom prst="rect">
            <a:avLst/>
          </a:prstGeom>
          <a:noFill/>
          <a:ln w="19050">
            <a:solidFill>
              <a:srgbClr val="A8410F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708708" y="1447800"/>
            <a:ext cx="3048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A8410F"/>
                </a:solidFill>
                <a:latin typeface="Yu Gothic UI"/>
              </a:rPr>
              <a:t>2Lの全高 306mm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1.5L（305〜307.5mm）は 2L（305〜306mm）とほぼ同じ高さです。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出典：ボトル＝料材開発／深さ＝各メーカー公式の内寸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床面積が同じでも本数は違う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どちらも 858cm² ／ 丸型ボトル 胴径 68.5mm ／ 灰色は割り切れない余り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ロゴスは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12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2000" y="1905000"/>
            <a:ext cx="4953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ダイワ S2000（20L）　内寸 22 × 39cm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2000" y="2190750"/>
            <a:ext cx="2748915" cy="1550670"/>
          </a:xfrm>
          <a:prstGeom prst="rect">
            <a:avLst/>
          </a:prstGeom>
          <a:solidFill>
            <a:srgbClr val="F2F5F8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62000" y="2190750"/>
            <a:ext cx="482822" cy="482822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244822" y="2190750"/>
            <a:ext cx="482822" cy="482822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727644" y="2190750"/>
            <a:ext cx="482822" cy="482822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210467" y="2190750"/>
            <a:ext cx="482822" cy="482822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693289" y="2190750"/>
            <a:ext cx="482822" cy="482822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62000" y="2673572"/>
            <a:ext cx="482822" cy="482822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244822" y="2673572"/>
            <a:ext cx="482822" cy="482822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727644" y="2673572"/>
            <a:ext cx="482822" cy="482822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2210467" y="2673572"/>
            <a:ext cx="482822" cy="482822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2693289" y="2673572"/>
            <a:ext cx="482822" cy="482822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62000" y="3156394"/>
            <a:ext cx="482822" cy="482822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244822" y="3156394"/>
            <a:ext cx="482822" cy="482822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727644" y="3156394"/>
            <a:ext cx="482822" cy="482822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2210467" y="3156394"/>
            <a:ext cx="482822" cy="482822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2693289" y="3156394"/>
            <a:ext cx="482822" cy="482822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2000" y="3893820"/>
            <a:ext cx="4953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39 ÷ 6.85 ＝ 5.7 → 5列 ／ 22 ÷ 6.85 ＝ 3.2 → 3行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05500" y="1905000"/>
            <a:ext cx="4953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ロゴス ハイパー氷点下クーラーL（20L）　内寸 33 × 26cm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905500" y="2190750"/>
            <a:ext cx="2326005" cy="1832610"/>
          </a:xfrm>
          <a:prstGeom prst="rect">
            <a:avLst/>
          </a:prstGeom>
          <a:solidFill>
            <a:srgbClr val="F2F5F8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5905500" y="2190750"/>
            <a:ext cx="482822" cy="482822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6388322" y="2190750"/>
            <a:ext cx="482822" cy="482822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871144" y="2190750"/>
            <a:ext cx="482822" cy="482822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7353967" y="2190750"/>
            <a:ext cx="482822" cy="482822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5905500" y="2673572"/>
            <a:ext cx="482822" cy="482822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6388322" y="2673572"/>
            <a:ext cx="482822" cy="482822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6871144" y="2673572"/>
            <a:ext cx="482822" cy="482822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7353967" y="2673572"/>
            <a:ext cx="482822" cy="482822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5905500" y="3156394"/>
            <a:ext cx="482822" cy="482822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6388322" y="3156394"/>
            <a:ext cx="482822" cy="482822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6871144" y="3156394"/>
            <a:ext cx="482822" cy="482822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7353967" y="3156394"/>
            <a:ext cx="482822" cy="482822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905500" y="4175760"/>
            <a:ext cx="4953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33 ÷ 6.85 ＝ 4.8 → 4列 ／ 26 ÷ 6.85 ＝ 3.8 → 3行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62000" y="4572000"/>
            <a:ext cx="3810000" cy="4191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650" b="1">
                <a:solidFill>
                  <a:srgbClr val="2E2E33"/>
                </a:solidFill>
                <a:latin typeface="Yu Gothic UI"/>
              </a:rPr>
              <a:t>5列 × 3行 ＝ </a:t>
            </a:r>
            <a:r>
              <a:rPr sz="2550" b="1">
                <a:solidFill>
                  <a:srgbClr val="014172"/>
                </a:solidFill>
                <a:latin typeface="Yu Gothic UI"/>
              </a:rPr>
              <a:t>15</a:t>
            </a:r>
            <a:r>
              <a:rPr sz="1500" b="1">
                <a:solidFill>
                  <a:srgbClr val="014172"/>
                </a:solidFill>
                <a:latin typeface="Yu Gothic UI"/>
              </a:rPr>
              <a:t>本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905500" y="4572000"/>
            <a:ext cx="3810000" cy="4191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650" b="1">
                <a:solidFill>
                  <a:srgbClr val="2E2E33"/>
                </a:solidFill>
                <a:latin typeface="Yu Gothic UI"/>
              </a:rPr>
              <a:t>4列 × 3行 ＝ </a:t>
            </a:r>
            <a:r>
              <a:rPr sz="2550" b="1">
                <a:solidFill>
                  <a:srgbClr val="014172"/>
                </a:solidFill>
                <a:latin typeface="Yu Gothic UI"/>
              </a:rPr>
              <a:t>12</a:t>
            </a:r>
            <a:r>
              <a:rPr sz="1500" b="1">
                <a:solidFill>
                  <a:srgbClr val="014172"/>
                </a:solidFill>
                <a:latin typeface="Yu Gothic UI"/>
              </a:rPr>
              <a:t>本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広さではなく、胴径で割り切れるかで決まります。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公表容量は 20L と 22L。どちらも 15本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ボトルはシマノ公表の前提 Φ66 × 全高207mm ／ 灰色は使えない余り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どちらも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15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2000" y="1905000"/>
            <a:ext cx="4953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ダイワ クールラインα3 2000（20L）　内寸 22 × 39cm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2000" y="2190750"/>
            <a:ext cx="2674620" cy="1508760"/>
          </a:xfrm>
          <a:prstGeom prst="rect">
            <a:avLst/>
          </a:prstGeom>
          <a:solidFill>
            <a:srgbClr val="F2F5F8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62000" y="2190750"/>
            <a:ext cx="452628" cy="452628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214628" y="2190750"/>
            <a:ext cx="452628" cy="452628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667256" y="2190750"/>
            <a:ext cx="452628" cy="452628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119884" y="2190750"/>
            <a:ext cx="452628" cy="452628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572512" y="2190750"/>
            <a:ext cx="452628" cy="452628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62000" y="2643378"/>
            <a:ext cx="452628" cy="452628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214628" y="2643378"/>
            <a:ext cx="452628" cy="452628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667256" y="2643378"/>
            <a:ext cx="452628" cy="452628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2119884" y="2643378"/>
            <a:ext cx="452628" cy="452628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2572512" y="2643378"/>
            <a:ext cx="452628" cy="452628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62000" y="3096006"/>
            <a:ext cx="452628" cy="452628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214628" y="3096006"/>
            <a:ext cx="452628" cy="452628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667256" y="3096006"/>
            <a:ext cx="452628" cy="452628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2119884" y="3096006"/>
            <a:ext cx="452628" cy="452628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2572512" y="3096006"/>
            <a:ext cx="452628" cy="452628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2000" y="3851910"/>
            <a:ext cx="4953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メーカーの公表は18本（前提にしたボトルが違う）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62000" y="4305300"/>
            <a:ext cx="3810000" cy="4191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650" b="1">
                <a:solidFill>
                  <a:srgbClr val="2E2E33"/>
                </a:solidFill>
                <a:latin typeface="Yu Gothic UI"/>
              </a:rPr>
              <a:t>3列 × 5行 ＝ </a:t>
            </a:r>
            <a:r>
              <a:rPr sz="2550" b="1">
                <a:solidFill>
                  <a:srgbClr val="014172"/>
                </a:solidFill>
                <a:latin typeface="Yu Gothic UI"/>
              </a:rPr>
              <a:t>15</a:t>
            </a:r>
            <a:r>
              <a:rPr sz="1500" b="1">
                <a:solidFill>
                  <a:srgbClr val="014172"/>
                </a:solidFill>
                <a:latin typeface="Yu Gothic UI"/>
              </a:rPr>
              <a:t>本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05500" y="1905000"/>
            <a:ext cx="4953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シマノ フィクセル 22L　内寸（底部）21.1 × 39.1cm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905500" y="2190750"/>
            <a:ext cx="2681478" cy="1447038"/>
          </a:xfrm>
          <a:prstGeom prst="rect">
            <a:avLst/>
          </a:prstGeom>
          <a:solidFill>
            <a:srgbClr val="F2F5F8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5905500" y="2190750"/>
            <a:ext cx="452628" cy="452628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358128" y="2190750"/>
            <a:ext cx="452628" cy="452628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6810756" y="2190750"/>
            <a:ext cx="452628" cy="452628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7263384" y="2190750"/>
            <a:ext cx="452628" cy="452628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7716012" y="2190750"/>
            <a:ext cx="452628" cy="452628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5905500" y="2643378"/>
            <a:ext cx="452628" cy="452628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6358128" y="2643378"/>
            <a:ext cx="452628" cy="452628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6810756" y="2643378"/>
            <a:ext cx="452628" cy="452628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7263384" y="2643378"/>
            <a:ext cx="452628" cy="452628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7716012" y="2643378"/>
            <a:ext cx="452628" cy="452628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5905500" y="3096006"/>
            <a:ext cx="452628" cy="452628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6358128" y="3096006"/>
            <a:ext cx="452628" cy="452628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6810756" y="3096006"/>
            <a:ext cx="452628" cy="452628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7263384" y="3096006"/>
            <a:ext cx="452628" cy="452628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7716012" y="3096006"/>
            <a:ext cx="452628" cy="452628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905500" y="3790188"/>
            <a:ext cx="4953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本数の公表なし。内寸は「底部」の値を使った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905500" y="4305300"/>
            <a:ext cx="3810000" cy="4191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650" b="1">
                <a:solidFill>
                  <a:srgbClr val="2E2E33"/>
                </a:solidFill>
                <a:latin typeface="Yu Gothic UI"/>
              </a:rPr>
              <a:t>3列 × 5行 ＝ </a:t>
            </a:r>
            <a:r>
              <a:rPr sz="2550" b="1">
                <a:solidFill>
                  <a:srgbClr val="014172"/>
                </a:solidFill>
                <a:latin typeface="Yu Gothic UI"/>
              </a:rPr>
              <a:t>15</a:t>
            </a:r>
            <a:r>
              <a:rPr sz="1500" b="1">
                <a:solidFill>
                  <a:srgbClr val="014172"/>
                </a:solidFill>
                <a:latin typeface="Yu Gothic UI"/>
              </a:rPr>
              <a:t>本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公表容量が違っても、入る本数は同じでした。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同じ箱・同じ1枚。置き方だけで違う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ダイワ S2000（20L）内寸 22 × 39cm ／ 500ml角型 胴径60mm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寝かせると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6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2000" y="1905000"/>
            <a:ext cx="4953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1">
                <a:solidFill>
                  <a:srgbClr val="2E2E33"/>
                </a:solidFill>
                <a:latin typeface="Yu Gothic UI"/>
              </a:rPr>
              <a:t>氷点下パックL（25.5 × 16.4 × 厚2.5cm）を床に寝かせる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2000" y="2190750"/>
            <a:ext cx="2748915" cy="1550670"/>
          </a:xfrm>
          <a:prstGeom prst="rect">
            <a:avLst/>
          </a:prstGeom>
          <a:solidFill>
            <a:srgbClr val="F2F5F8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2000" y="2190750"/>
            <a:ext cx="1797368" cy="1155954"/>
          </a:xfrm>
          <a:prstGeom prst="rect">
            <a:avLst/>
          </a:prstGeom>
          <a:solidFill>
            <a:srgbClr val="FDF2E4"/>
          </a:solidFill>
          <a:ln w="19050">
            <a:solidFill>
              <a:srgbClr val="A8410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62000" y="3384804"/>
            <a:ext cx="422910" cy="422910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84910" y="3384804"/>
            <a:ext cx="422910" cy="422910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607820" y="3384804"/>
            <a:ext cx="422910" cy="422910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62000" y="3807714"/>
            <a:ext cx="422910" cy="422910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184910" y="3807714"/>
            <a:ext cx="422910" cy="422910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607820" y="3807714"/>
            <a:ext cx="422910" cy="422910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2000" y="3893820"/>
            <a:ext cx="3810000" cy="381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400" b="1">
                <a:solidFill>
                  <a:srgbClr val="A8410F"/>
                </a:solidFill>
                <a:latin typeface="Yu Gothic UI"/>
              </a:rPr>
              <a:t>6</a:t>
            </a:r>
            <a:r>
              <a:rPr sz="1500" b="1">
                <a:solidFill>
                  <a:srgbClr val="A8410F"/>
                </a:solidFill>
                <a:latin typeface="Yu Gothic UI"/>
              </a:rPr>
              <a:t>本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2000" y="4293870"/>
            <a:ext cx="4953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残る帯は 22 − 16.4 ＝ 5.6cm。胴径6cmに足りず丸ごと死ぬ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05500" y="1905000"/>
            <a:ext cx="4953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1">
                <a:solidFill>
                  <a:srgbClr val="2E2E33"/>
                </a:solidFill>
                <a:latin typeface="Yu Gothic UI"/>
              </a:rPr>
              <a:t>氷点下パックM（19.6 × 13.8 × 厚2.6cm）を壁に立てかける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905500" y="2190750"/>
            <a:ext cx="2748915" cy="1550670"/>
          </a:xfrm>
          <a:prstGeom prst="rect">
            <a:avLst/>
          </a:prstGeom>
          <a:solidFill>
            <a:srgbClr val="F2F5F8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905500" y="2190750"/>
            <a:ext cx="1381506" cy="183261"/>
          </a:xfrm>
          <a:prstGeom prst="rect">
            <a:avLst/>
          </a:prstGeom>
          <a:solidFill>
            <a:srgbClr val="DAE7F2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5905500" y="2190750"/>
            <a:ext cx="422910" cy="422910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328410" y="2190750"/>
            <a:ext cx="422910" cy="422910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751320" y="2190750"/>
            <a:ext cx="422910" cy="422910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174230" y="2190750"/>
            <a:ext cx="422910" cy="422910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7597140" y="2190750"/>
            <a:ext cx="422910" cy="422910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8020050" y="2190750"/>
            <a:ext cx="422910" cy="422910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5905500" y="2613660"/>
            <a:ext cx="422910" cy="422910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6328410" y="2613660"/>
            <a:ext cx="422910" cy="422910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751320" y="2613660"/>
            <a:ext cx="422910" cy="422910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7174230" y="2613660"/>
            <a:ext cx="422910" cy="422910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7597140" y="2613660"/>
            <a:ext cx="422910" cy="422910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8020050" y="2613660"/>
            <a:ext cx="422910" cy="422910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5905500" y="3036570"/>
            <a:ext cx="422910" cy="422910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6328410" y="3036570"/>
            <a:ext cx="422910" cy="422910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6751320" y="3036570"/>
            <a:ext cx="422910" cy="422910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7174230" y="3036570"/>
            <a:ext cx="422910" cy="422910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7597140" y="3036570"/>
            <a:ext cx="422910" cy="422910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8020050" y="3036570"/>
            <a:ext cx="422910" cy="422910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905500" y="3893820"/>
            <a:ext cx="3810000" cy="381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400" b="1">
                <a:solidFill>
                  <a:srgbClr val="014172"/>
                </a:solidFill>
                <a:latin typeface="Yu Gothic UI"/>
              </a:rPr>
              <a:t>18</a:t>
            </a:r>
            <a:r>
              <a:rPr sz="1500" b="1">
                <a:solidFill>
                  <a:srgbClr val="014172"/>
                </a:solidFill>
                <a:latin typeface="Yu Gothic UI"/>
              </a:rPr>
              <a:t>本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905500" y="4293870"/>
            <a:ext cx="4953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床の余り 4cm と 3cm に、厚さ2.6cmがそのまま収まる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面積ではなく、残った帯が胴径で割り切れるかで決まります。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斜めに置くと、長辺より長いものが入る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シマノ スペーザ 350（内寸 25.2 × 59.2 × 深さ 23.0cm）を上から見た床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立体の対角線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68.3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cm</a:t>
            </a:r>
          </a:p>
        </p:txBody>
      </p:sp>
      <p:sp>
        <p:nvSpPr>
          <p:cNvPr id="10" name="Rectangle 9"/>
          <p:cNvSpPr/>
          <p:nvPr/>
        </p:nvSpPr>
        <p:spPr>
          <a:xfrm>
            <a:off x="952500" y="2190750"/>
            <a:ext cx="3608832" cy="1536192"/>
          </a:xfrm>
          <a:prstGeom prst="rect">
            <a:avLst/>
          </a:prstGeom>
          <a:solidFill>
            <a:srgbClr val="F2F5F8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52500" y="2190750"/>
            <a:ext cx="3608832" cy="1536192"/>
          </a:xfrm>
          <a:prstGeom prst="rect">
            <a:avLst/>
          </a:prstGeom>
          <a:noFill/>
          <a:ln w="19050">
            <a:solidFill>
              <a:srgbClr val="014172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905500" y="2000250"/>
            <a:ext cx="4572000" cy="1143000"/>
          </a:xfrm>
          <a:prstGeom prst="roundRect">
            <a:avLst>
              <a:gd name="adj" fmla="val 6000"/>
            </a:avLst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096000" y="2190750"/>
            <a:ext cx="4191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0">
                <a:solidFill>
                  <a:srgbClr val="6A717B"/>
                </a:solidFill>
                <a:latin typeface="Yu Gothic UI"/>
              </a:rPr>
              <a:t>床の対角線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96000" y="2514600"/>
            <a:ext cx="4191000" cy="3238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75" b="1">
                <a:solidFill>
                  <a:srgbClr val="014172"/>
                </a:solidFill>
                <a:latin typeface="Yu Gothic UI"/>
              </a:rPr>
              <a:t>√(25.2² ＋ 59.2²) ＝ 64.3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905500" y="3295650"/>
            <a:ext cx="4572000" cy="1143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096000" y="3486150"/>
            <a:ext cx="4191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0">
                <a:solidFill>
                  <a:srgbClr val="6A717B"/>
                </a:solidFill>
                <a:latin typeface="Yu Gothic UI"/>
              </a:rPr>
              <a:t>立体の対角線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96000" y="3810000"/>
            <a:ext cx="4191000" cy="3238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014172"/>
                </a:solidFill>
                <a:latin typeface="Yu Gothic UI"/>
              </a:rPr>
              <a:t>√(25.2² ＋ 59.2² ＋ 23.0²) ＝ 68.3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角の丸みや水栓の出っ張りは計算に入っていません。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どちらも15L。中の広さは違う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上から見た床面 ／ 灰色の外枠＝外寸、青い内枠＝内寸（メーカー公表値）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断熱で片側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6.3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cm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2500" y="1905000"/>
            <a:ext cx="4953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1">
                <a:solidFill>
                  <a:srgbClr val="2E2E33"/>
                </a:solidFill>
                <a:latin typeface="Yu Gothic UI"/>
              </a:rPr>
              <a:t>アイリスオーヤマ HUGEL 15L（真空断熱パネル）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52500" y="2190750"/>
            <a:ext cx="2743200" cy="1877568"/>
          </a:xfrm>
          <a:prstGeom prst="rect">
            <a:avLst/>
          </a:prstGeom>
          <a:solidFill>
            <a:srgbClr val="F2F5F8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403604" y="2574798"/>
            <a:ext cx="1840992" cy="1109472"/>
          </a:xfrm>
          <a:prstGeom prst="rect">
            <a:avLst/>
          </a:prstGeom>
          <a:solidFill>
            <a:srgbClr val="EEF4F9"/>
          </a:solidFill>
          <a:ln w="28575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52500" y="4239768"/>
            <a:ext cx="4572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2E2E33"/>
                </a:solidFill>
                <a:latin typeface="Yu Gothic UI"/>
              </a:rPr>
              <a:t>外寸 45.0 × 30.8cm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2500" y="4506468"/>
            <a:ext cx="4572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→ 内寸 30.2 × 18.2cm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2500" y="4773168"/>
            <a:ext cx="4572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外寸と内寸の差は 長辺で片側7.4cm ／ 短辺で片側6.3cm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6000" y="1905000"/>
            <a:ext cx="4953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1">
                <a:solidFill>
                  <a:srgbClr val="2E2E33"/>
                </a:solidFill>
                <a:latin typeface="Yu Gothic UI"/>
              </a:rPr>
              <a:t>ダイワ クールラインα3 S1500（発泡スチロール）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96000" y="2190750"/>
            <a:ext cx="2895600" cy="1524000"/>
          </a:xfrm>
          <a:prstGeom prst="rect">
            <a:avLst/>
          </a:prstGeom>
          <a:solidFill>
            <a:srgbClr val="F2F5F8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46520" y="2434590"/>
            <a:ext cx="2194560" cy="1036320"/>
          </a:xfrm>
          <a:prstGeom prst="rect">
            <a:avLst/>
          </a:prstGeom>
          <a:solidFill>
            <a:srgbClr val="EEF4F9"/>
          </a:solidFill>
          <a:ln w="28575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096000" y="3886200"/>
            <a:ext cx="4572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2E2E33"/>
                </a:solidFill>
                <a:latin typeface="Yu Gothic UI"/>
              </a:rPr>
              <a:t>外寸 47.5 × 25.0cm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96000" y="4152900"/>
            <a:ext cx="4572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→ 内寸 36.0 × 17.0cm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96000" y="4419600"/>
            <a:ext cx="4572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外寸と内寸の差は 長辺で片側5.75cm ／ 短辺で片側4.0cm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外寸が大きくても、断熱が厚ければ中は狭くなります。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