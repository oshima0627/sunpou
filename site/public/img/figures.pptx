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143000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同じ40Lで、1〜2泊 から 4泊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6社の公表目安を横に並べたもの。棒の左端が最短、右端が最長の泊数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40Lの目安の開き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2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0" y="1619250"/>
            <a:ext cx="762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6A717B"/>
                </a:solidFill>
                <a:latin typeface="Yu Gothic UI"/>
              </a:rPr>
              <a:t>1泊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9750" y="1619250"/>
            <a:ext cx="762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6A717B"/>
                </a:solidFill>
                <a:latin typeface="Yu Gothic UI"/>
              </a:rPr>
              <a:t>2泊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1619250"/>
            <a:ext cx="762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6A717B"/>
                </a:solidFill>
                <a:latin typeface="Yu Gothic UI"/>
              </a:rPr>
              <a:t>3泊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0" y="1619250"/>
            <a:ext cx="762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6A717B"/>
                </a:solidFill>
                <a:latin typeface="Yu Gothic UI"/>
              </a:rPr>
              <a:t>4泊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0" y="1619250"/>
            <a:ext cx="762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6A717B"/>
                </a:solidFill>
                <a:latin typeface="Yu Gothic UI"/>
              </a:rPr>
              <a:t>5泊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190500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245745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300990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356235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411480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466725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009775"/>
            <a:ext cx="14287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009775"/>
            <a:ext cx="2286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Legend Walker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5050" y="2009775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1〜2泊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1350" y="202882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27〜41Lの帯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0750" y="2562225"/>
            <a:ext cx="14287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2562225"/>
            <a:ext cx="2286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562225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2〜3泊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0100" y="258127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30〜49Lの帯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00750" y="3114675"/>
            <a:ext cx="14287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3114675"/>
            <a:ext cx="2286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ニトリ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114675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2〜3泊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0100" y="313372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40L製品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00750" y="3667125"/>
            <a:ext cx="14287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3667125"/>
            <a:ext cx="2286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無印良品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667125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2〜3泊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0100" y="368617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36L製品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29500" y="4219575"/>
            <a:ext cx="14287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4219575"/>
            <a:ext cx="2286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RIMOWA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2550" y="4219575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3〜4泊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850" y="423862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36〜37L製品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91575" y="4772025"/>
            <a:ext cx="1333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850" y="4772025"/>
            <a:ext cx="2286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サムソナイト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9225" y="4772025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4泊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5525" y="479107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1泊＝10Lで計算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泊数は容量から決まらず、社ごとの目安です。60L以上は各社4〜7泊に収まります。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メーカー公表の目安です（実測ではありません）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開口100cmは、本体では届かない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公表の取付幅レンジに当てると、カトージは外れ、日本育児はワイドS側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カトージの最大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95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99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14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44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59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4950" y="1714500"/>
            <a:ext cx="19050" cy="274320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1771650"/>
            <a:ext cx="10439400" cy="5905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2438400"/>
            <a:ext cx="10439400" cy="5905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3105150"/>
            <a:ext cx="10439400" cy="5905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3105150"/>
            <a:ext cx="47625" cy="5905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3771900"/>
            <a:ext cx="10439400" cy="5905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1924050"/>
            <a:ext cx="13716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18859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日本育児（本体）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1336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67〜91cm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900" y="192405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A8410F"/>
                </a:solidFill>
                <a:latin typeface="Yu Gothic UI"/>
              </a:rPr>
              <a:t>本体では届かない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590800"/>
            <a:ext cx="13716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255270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日本育児＋ワイドS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80035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91〜115cm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0" y="25908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14172"/>
                </a:solidFill>
                <a:latin typeface="Yu Gothic UI"/>
              </a:rPr>
              <a:t>ワイドパネルS側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257550"/>
            <a:ext cx="16002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2194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カトージ LDK-STYLEⅡ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34671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〜95cm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3500" y="325755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A8410F"/>
                </a:solidFill>
                <a:latin typeface="Yu Gothic UI"/>
              </a:rPr>
              <a:t>最大95で外れる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3924300"/>
            <a:ext cx="7429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388620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リッチェル＋拡張1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413385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91〜104cm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7850" y="39243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14172"/>
                </a:solidFill>
                <a:latin typeface="Yu Gothic UI"/>
              </a:rPr>
              <a:t>拡張1本側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「対応幅」見出しではなく、パーツごとの取付幅レンジで判定します。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全列○は PROTECA 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メーカー外寸を ANA/JAL・100席未満・Peach・Jetstar に当てた結果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ANA/JALの和上限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115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0" y="1600200"/>
            <a:ext cx="1047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6A717B"/>
                </a:solidFill>
                <a:latin typeface="Yu Gothic UI"/>
              </a:rPr>
              <a:t>≥100席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1600200"/>
            <a:ext cx="1047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6A717B"/>
                </a:solidFill>
                <a:latin typeface="Yu Gothic UI"/>
              </a:rPr>
              <a:t>＜100席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1600200"/>
            <a:ext cx="1047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6A717B"/>
                </a:solidFill>
                <a:latin typeface="Yu Gothic UI"/>
              </a:rPr>
              <a:t>Peach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0" y="1600200"/>
            <a:ext cx="1047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6A717B"/>
                </a:solidFill>
                <a:latin typeface="Yu Gothic UI"/>
              </a:rPr>
              <a:t>Jetstar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300" y="1866900"/>
            <a:ext cx="10439400" cy="4381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2381250"/>
            <a:ext cx="10439400" cy="4381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2381250"/>
            <a:ext cx="47625" cy="4381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2895600"/>
            <a:ext cx="10439400" cy="4381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3409950"/>
            <a:ext cx="10439400" cy="4381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3924300"/>
            <a:ext cx="10439400" cy="4381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19812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ace パリセイド3-Z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0" y="19812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19812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19812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0" y="19812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49555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PROTECA スタリアCXR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0" y="24955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24955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24955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0" y="24955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30099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EDGELINK（通常）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0" y="30099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30099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250" y="30099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0" y="30099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352425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EDGELINK（拡張）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5750" y="35242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0" y="35242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2250" y="35242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0500" y="35242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40386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Legend Walker 5516-48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5750" y="40386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40386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40386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014172"/>
                </a:solidFill>
                <a:latin typeface="Yu Gothic UI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0500" y="40386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A8410F"/>
                </a:solidFill>
                <a:latin typeface="Yu Gothic UI"/>
              </a:rPr>
              <a:t>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「機内持ち込み対応」でも、Jetstarと100席未満で落ちる製品が多いです。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3辺和の差は 6〜11cm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公式併記の本体サイズと外寸／全体。差の主因は高さ（キャスター＋ハンドル）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いちばん大きい差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11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8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69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57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0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28765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00500" y="1905000"/>
            <a:ext cx="27432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19050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PROTECA スタリアCXR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905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6cm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0500" y="2457450"/>
            <a:ext cx="36576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245745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PROTECA ポケットライナー2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457450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8cm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00500" y="3009900"/>
            <a:ext cx="50292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0099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Legend Walker 5516-48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009900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11cm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00500" y="3562350"/>
            <a:ext cx="4572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356235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ace フレットボード 68L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562350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10cm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00500" y="4114800"/>
            <a:ext cx="41148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1148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ace フレットボード 100L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114800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9cm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判定に使うのは外寸／全体（キャスター・ハンドル込み）。本体サイズではありません。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拡張で増えるのは奥行だけ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高さ・幅は0。3辺和の増分も奥行と同じ 4〜7cm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いちばん大きい増分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7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8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+0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+2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+4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+6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2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+8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39814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00500" y="1905000"/>
            <a:ext cx="2667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19050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EDGELINK CRUZBOX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190500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+4cm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0" y="192405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114→118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0500" y="2457450"/>
            <a:ext cx="2667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245745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PROTECA フレスターEX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245745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+4cm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0" y="24765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115→119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00500" y="3009900"/>
            <a:ext cx="2667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0099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ACE クレスタ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800" y="300990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+4cm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0" y="302895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115→119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00500" y="3562350"/>
            <a:ext cx="333375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356235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Legend Walker 5109-46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8550" y="356235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+5cm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0" y="35814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115→120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00500" y="4114800"/>
            <a:ext cx="466725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41148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Legend Walker 5525-48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2050" y="411480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+7cm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0" y="413385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115→122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機内持ち込み帯（114〜115）は拡張後118〜122。預け入れ天井帯も超え得ます。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同じ157帯でも 68L〜100L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総外寸158cm以内は預け入れの帯。容量（L）の代理ではありません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157帯の上限側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100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7225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85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6475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39814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0000" y="1905000"/>
            <a:ext cx="6477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18669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ace フレットボード 68L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0955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総外寸 151cm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90500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68L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0" y="2457450"/>
            <a:ext cx="1700212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24193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Legend Walker 5516-70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6479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総外寸 155cm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4512" y="245745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81L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0" y="3009900"/>
            <a:ext cx="2185988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29718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Legend Walker 5528-70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32004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総外寸 157cm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0288" y="300990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87L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0000" y="3562350"/>
            <a:ext cx="275272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35242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Samsonite シーライト75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37528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総外寸 157cm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7025" y="356235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94L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10000" y="4114800"/>
            <a:ext cx="32385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40767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ace フレットボード 100L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3053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総外寸 157cm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4114800"/>
            <a:ext cx="666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100L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151cmの68Lから158cmの100Lまで。総外寸が近くても容量は約1.5倍開きます。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機内持込級は、特大の手前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東海道・山陽・九州・西九州の特大荷物は3辺和160cm超。照合5製品はすべて以下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特大のしきい値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160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5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05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25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45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714500"/>
            <a:ext cx="19050" cy="283845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1905000"/>
            <a:ext cx="9525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19050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ace パリセイド3-Z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800" y="190500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115cm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457450"/>
            <a:ext cx="3429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245745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PROTECA スタリアCXR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45745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99cm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009900"/>
            <a:ext cx="9144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30099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EDGELINK（通常）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700" y="300990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114cm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562350"/>
            <a:ext cx="10668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356235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EDGELINK（拡張）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0100" y="356235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118cm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114800"/>
            <a:ext cx="9525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41148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Legend Walker 5516-48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5800" y="411480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115cm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航空機では落ちる外寸でも、新幹線の160までは余裕があります。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レール195cmは、幅100×2不足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必要仕上がり幅＝レール×1.05。合計200の既製両開きに当てた結果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幅100×2の限界超え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195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714500"/>
            <a:ext cx="19050" cy="28384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8750" y="1543050"/>
            <a:ext cx="10477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014172"/>
                </a:solidFill>
                <a:latin typeface="Yu Gothic UI"/>
              </a:rPr>
              <a:t>既製合計200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342900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29000" y="1905000"/>
            <a:ext cx="6477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19050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レール170cm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0" y="19050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必要178.5 → 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457450"/>
            <a:ext cx="14478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245745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レール180cm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1100" y="245745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必要189 → 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009900"/>
            <a:ext cx="22479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0099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レール190cm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1200" y="30099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必要199.5 → 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562350"/>
            <a:ext cx="265176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356235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レール195cm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5060" y="356235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必要204.8 → 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114800"/>
            <a:ext cx="3048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41148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レール200cm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1300" y="41148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必要210 → 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丈は床ルール次第。ニトリ式（床−1）と無印式（床−2）で178／200の向きが分かれます。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450mmすき間に入る幅は限られる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想定すき間幅450mmに、公表の本体幅Wを当てた結果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いちばん細い本体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310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9188" y="1714500"/>
            <a:ext cx="19050" cy="283845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2938" y="1543050"/>
            <a:ext cx="1143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A8410F"/>
                </a:solidFill>
                <a:latin typeface="Yu Gothic UI"/>
              </a:rPr>
              <a:t>すき間450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39814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10000" y="1905000"/>
            <a:ext cx="6024562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1905000"/>
            <a:ext cx="3048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NP-TH5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9812" y="19050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A8410F"/>
                </a:solidFill>
                <a:latin typeface="Yu Gothic UI"/>
              </a:rPr>
              <a:t>550mm × 450すき間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0" y="2457450"/>
            <a:ext cx="5148262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2457450"/>
            <a:ext cx="3048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NP-TCR5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3512" y="245745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A8410F"/>
                </a:solidFill>
                <a:latin typeface="Yu Gothic UI"/>
              </a:rPr>
              <a:t>470mm × 450すき間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0" y="3009900"/>
            <a:ext cx="460057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009900"/>
            <a:ext cx="3048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DWS-33B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5825" y="30099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14172"/>
                </a:solidFill>
                <a:latin typeface="Yu Gothic UI"/>
              </a:rPr>
              <a:t>420mm ○ 420幅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0" y="3562350"/>
            <a:ext cx="460057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3562350"/>
            <a:ext cx="3048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アイリス ISHT-5000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5825" y="356235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14172"/>
                </a:solidFill>
                <a:latin typeface="Yu Gothic UI"/>
              </a:rPr>
              <a:t>420mm ○ 420幅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0" y="4114800"/>
            <a:ext cx="3395662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4114800"/>
            <a:ext cx="3048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NP-TML1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0912" y="41148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14172"/>
                </a:solidFill>
                <a:latin typeface="Yu Gothic UI"/>
              </a:rPr>
              <a:t>310mm ○ 310幅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閉時奥行は全機種とも想定カウンター600mmに収まります。ドア全開奥行は機種で差が出ます。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奥行745mmで、余りは55mm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想定通路幅800mm − 本体奥行。曲がり角は含まない引き算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800mm通路の余り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55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6A717B"/>
                </a:solidFill>
                <a:latin typeface="Yu Gothic UI"/>
              </a:rPr>
              <a:t>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6A717B"/>
                </a:solidFill>
                <a:latin typeface="Yu Gothic UI"/>
              </a:rPr>
              <a:t>650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6A717B"/>
                </a:solidFill>
                <a:latin typeface="Yu Gothic UI"/>
              </a:rPr>
              <a:t>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6A717B"/>
                </a:solidFill>
                <a:latin typeface="Yu Gothic UI"/>
              </a:rPr>
              <a:t>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543050"/>
            <a:ext cx="4762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6A717B"/>
                </a:solidFill>
                <a:latin typeface="Yu Gothic UI"/>
              </a:rPr>
              <a:t>800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5500" y="1714500"/>
            <a:ext cx="19050" cy="283845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300" y="39814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10000" y="1905000"/>
            <a:ext cx="1905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18669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NR-C37WS2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0955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奥行 600mm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9050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余り 200mm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0" y="2457450"/>
            <a:ext cx="47625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24193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SJ-MF51R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26479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奥行 630mm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0550" y="24574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余り 170mm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0" y="3009900"/>
            <a:ext cx="113347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29718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NR-F55WX3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32004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奥行 699mm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7775" y="30099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余り 101mm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000" y="3562350"/>
            <a:ext cx="150495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35242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三菱 MR-WZ61N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37528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奥行 738mm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29250" y="35623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余り 62mm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10000" y="4114800"/>
            <a:ext cx="157162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40767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GR-W600FZS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43053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奥行 745mm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5925" y="41148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余り 55mm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容量Lではなく本体奥行で判定。メーカーの「幅＋約10cm」は直立搬入の別軸です。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扉は本体の横へ最大361mm出る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左右あきは各5mmで同じ。違うのは扉を開けたときの横張り出し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横張り出しの最大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361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17716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0000" y="1905000"/>
            <a:ext cx="481393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18669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NR-F55WX3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0955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本体幅 685mm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8235" y="19050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361mm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0" y="2457450"/>
            <a:ext cx="406717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4193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SJ-MF55R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6479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本体幅 730mm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475" y="24574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305mm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0" y="3009900"/>
            <a:ext cx="401383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29718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GR-W600FZS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2004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本体幅 685mm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8135" y="30099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301mm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0" y="3562350"/>
            <a:ext cx="358711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35242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三菱 MR-WZ61N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37528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本体幅 685mm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1415" y="35623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269mm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4114800"/>
            <a:ext cx="313372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40767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日立 R-HZC54Y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43053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本体幅 650mm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8025" y="41148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約235mm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壁際で扉が十分に開かないときは、壁から10〜20mm（機種による）。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幅700mm・奥行650mmは2機種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最小設置幅が700mm以下で、据付奥行が650mm以下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両方に入る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2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機種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90700"/>
            <a:ext cx="10439400" cy="5715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438400"/>
            <a:ext cx="10439400" cy="5715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086100"/>
            <a:ext cx="10439400" cy="5715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086100"/>
            <a:ext cx="47625" cy="5715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733800"/>
            <a:ext cx="10439400" cy="5715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381500"/>
            <a:ext cx="10439400" cy="5715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72112" y="1676400"/>
            <a:ext cx="19050" cy="329565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5412" y="1562100"/>
            <a:ext cx="12382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8410F"/>
                </a:solidFill>
                <a:latin typeface="Yu Gothic UI"/>
              </a:rPr>
              <a:t>奥行650mm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00250"/>
            <a:ext cx="400050" cy="2095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18478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NR-C37WS2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095500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最小幅 610mm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8250" y="19431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600mm 入る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647950"/>
            <a:ext cx="1390174" cy="2095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24955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日立 R-HZC54Y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43200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最小幅 660mm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8374" y="25908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699mm 奥行で出る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295650"/>
            <a:ext cx="770096" cy="2095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31432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SJ-MF51R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390900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最小幅 695mm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8296" y="32385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637mm 入る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943350"/>
            <a:ext cx="770096" cy="2095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37909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SJ-MF55R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4038600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最小幅 740mm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8296" y="38862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637mm 幅で出る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591050"/>
            <a:ext cx="1420178" cy="2095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44386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GR-A550FZ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4686300"/>
            <a:ext cx="3810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最小幅 695mm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8378" y="4533900"/>
            <a:ext cx="209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702mm 奥行で出る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棒は据付必要奥行。幅700mmを超える機種は、奥行が足りても外れます。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800・900の有効奥行は546mm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TOTO洗濯機パンの有効奥行と、ドラム式の条件「奥行内寸540mm以上」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540mm条件に対する余り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866900"/>
            <a:ext cx="10439400" cy="5524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495550"/>
            <a:ext cx="10439400" cy="5524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124200"/>
            <a:ext cx="10439400" cy="5524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124200"/>
            <a:ext cx="47625" cy="5524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752850"/>
            <a:ext cx="10439400" cy="5524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0" y="1771650"/>
            <a:ext cx="19050" cy="259080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4500" y="1543050"/>
            <a:ext cx="1333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A8410F"/>
                </a:solidFill>
                <a:latin typeface="Yu Gothic UI"/>
              </a:rPr>
              <a:t>条件 540mm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0000" y="2038350"/>
            <a:ext cx="3810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19812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TOTO PWP640N2W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2098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外寸 640×640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4300" y="203835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580mm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0000" y="2667000"/>
            <a:ext cx="3810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26098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TOTO PWP740N2W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28384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外寸 740×640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26670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580mm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0" y="3295650"/>
            <a:ext cx="25146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32385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TOTO PWP800N2W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46710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外寸 800×640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900" y="329565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546mm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0" y="3924300"/>
            <a:ext cx="25146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8671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TOTO PWP900N2W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409575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6A717B"/>
                </a:solidFill>
                <a:latin typeface="Yu Gothic UI"/>
              </a:rPr>
              <a:t>外寸 900×640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8900" y="3924300"/>
            <a:ext cx="1905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546mm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有効寸法はTOTOの参考値。洗濯機側の条件は奥行内寸500〜540mm以上。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縦型の条件は507〜570mm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4社の「設置可能な防水パン（奥行内寸）」と、TOTO 800・900の有効奥行546mm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570mm条件に対する不足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24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866900"/>
            <a:ext cx="10439400" cy="3810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1866900"/>
            <a:ext cx="47625" cy="3810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324100"/>
            <a:ext cx="10439400" cy="381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781300"/>
            <a:ext cx="10439400" cy="381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238500"/>
            <a:ext cx="10439400" cy="381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695700"/>
            <a:ext cx="10439400" cy="381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152900"/>
            <a:ext cx="10439400" cy="3810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4610100"/>
            <a:ext cx="10439400" cy="381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1900" y="1771650"/>
            <a:ext cx="19050" cy="327660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8900" y="1543050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A8410F"/>
                </a:solidFill>
                <a:latin typeface="Yu Gothic UI"/>
              </a:rPr>
              <a:t>TOTO 800・900 有効奥行 546mm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0" y="1981200"/>
            <a:ext cx="51435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19050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AW-10GM3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1240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622×639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7800" y="19621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570mm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0" y="2438400"/>
            <a:ext cx="40005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23622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AW-12DPB6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5812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637×649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0" y="24193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550mm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0" y="2895600"/>
            <a:ext cx="40005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28194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ES-GV10L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30384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600×597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4800" y="28765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550mm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3352800"/>
            <a:ext cx="34290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32766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NA-FA12V6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34956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637×694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6200" y="33337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540mm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0" y="3810000"/>
            <a:ext cx="314325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37338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ES-GE5K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39528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565×540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6200" y="37909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535mm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10000" y="4267200"/>
            <a:ext cx="28575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41910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日立 BW-X120M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44100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640×650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800" y="42481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530mm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10000" y="4724400"/>
            <a:ext cx="154305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46482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ES-GE7K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48672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 565×538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67350" y="47053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507mm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有効寸法はTOTOの参考値。条件は各社の仕様ページ・カタログの公表値。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フタ全開時は1132〜1529mm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閉じた高さより242〜431mm高い。4社の寸法図から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閉じた高さとの最大差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431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524000"/>
            <a:ext cx="10439400" cy="4572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1524000"/>
            <a:ext cx="47625" cy="4572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057400"/>
            <a:ext cx="10439400" cy="4572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590800"/>
            <a:ext cx="10439400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124200"/>
            <a:ext cx="10439400" cy="4572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657600"/>
            <a:ext cx="10439400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191000"/>
            <a:ext cx="10439400" cy="4572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4724400"/>
            <a:ext cx="10439400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10000" y="1676400"/>
            <a:ext cx="3557111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10000" y="1676400"/>
            <a:ext cx="129921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15811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AW-12DPB6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8097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閉じ1098 → 全開1529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1411" y="1638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1529mm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0" y="2209800"/>
            <a:ext cx="3295174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10000" y="2209800"/>
            <a:ext cx="123634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21145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NA-FA12V6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3431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閉じ1086 → 全開1479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9474" y="21717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1479mm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0" y="2743200"/>
            <a:ext cx="3216593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10000" y="2743200"/>
            <a:ext cx="958691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26479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AW-10DPB6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28765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閉じ1033 → 全開1464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0892" y="27051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1464mm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0000" y="3276600"/>
            <a:ext cx="2771299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10000" y="3276600"/>
            <a:ext cx="1189196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31813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日立 BW-X120M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34099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閉じ1077 → 全開1379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5599" y="32385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1379mm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10000" y="3810000"/>
            <a:ext cx="2462212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10000" y="3810000"/>
            <a:ext cx="1073944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37147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ES-SW11L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39433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閉じ1055 → 全開1320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6512" y="37719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1320mm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10000" y="4343400"/>
            <a:ext cx="1954054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10000" y="4343400"/>
            <a:ext cx="681038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42481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日立 BW-G70M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44767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閉じ980 → 全開1223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8354" y="4305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1223mm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10000" y="4876800"/>
            <a:ext cx="1477328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810000" y="4876800"/>
            <a:ext cx="20955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47815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ES-GE5K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50101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閉じ890 → 全開1132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1628" y="48387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1132mm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濃い棒が閉じた高さ、薄い棒がフタ全開時。数字はメーカー寸法図の公表値。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ドア開け時の奥行は973〜1259mm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外形奥行より373〜520mm前に出る。4社の寸法図から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外形奥行との最大差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520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524000"/>
            <a:ext cx="10439400" cy="4572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1524000"/>
            <a:ext cx="47625" cy="4572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057400"/>
            <a:ext cx="10439400" cy="4572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590800"/>
            <a:ext cx="10439400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124200"/>
            <a:ext cx="10439400" cy="4572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657600"/>
            <a:ext cx="10439400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191000"/>
            <a:ext cx="10439400" cy="4572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4724400"/>
            <a:ext cx="10439400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10000" y="1676400"/>
            <a:ext cx="433768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10000" y="1676400"/>
            <a:ext cx="136588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15811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ES-X12C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8097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外形739 → 開け時1259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1985" y="1638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1259mm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0" y="2209800"/>
            <a:ext cx="414909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10000" y="2209800"/>
            <a:ext cx="132588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21145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NA-LX129FL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3431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外形732 → 開け時1226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3390" y="21717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1226mm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0" y="2743200"/>
            <a:ext cx="408622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10000" y="2743200"/>
            <a:ext cx="125158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26479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ES-12X2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28765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外形719 → 開け時1215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525" y="27051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1215mm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0000" y="3276600"/>
            <a:ext cx="385762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10000" y="3276600"/>
            <a:ext cx="12573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31813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TW-127XP5L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34099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外形720 → 開け時1175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925" y="32385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1175mm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10000" y="3810000"/>
            <a:ext cx="373189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10000" y="3810000"/>
            <a:ext cx="12573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37147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日立 BD-STX130M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39433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外形720 → 開け時1153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6195" y="37719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1153mm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10000" y="4343400"/>
            <a:ext cx="349186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10000" y="4343400"/>
            <a:ext cx="76009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42481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東芝 TW-84GS5L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44767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外形633 → 開け時1111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6165" y="4305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1111mm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10000" y="4876800"/>
            <a:ext cx="2703195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810000" y="4876800"/>
            <a:ext cx="571500" cy="228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478155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シャープ ES-7S2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5010150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A717B"/>
                </a:solidFill>
                <a:latin typeface="Yu Gothic UI"/>
              </a:rPr>
              <a:t>外形600 → 開け時973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7495" y="48387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973mm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濃い棒が外形奥行、薄い棒がドア開け時の奥行。数字はメーカー寸法図の公表値。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手前の高さは826〜891mm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12kgより10kgが65mm低い。総外形との差は207mm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12kgと10kgの差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71650"/>
            <a:ext cx="10439400" cy="8763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724150"/>
            <a:ext cx="10439400" cy="8763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676650"/>
            <a:ext cx="10439400" cy="8763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676650"/>
            <a:ext cx="47625" cy="8763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95750" y="2038350"/>
            <a:ext cx="3483292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95750" y="2038350"/>
            <a:ext cx="1215866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1924050"/>
            <a:ext cx="3333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東芝 AW-12DPB6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2098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総外形1098mm → 手前891mm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342" y="2019300"/>
            <a:ext cx="1333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891mm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0" y="2990850"/>
            <a:ext cx="2771299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95750" y="2990850"/>
            <a:ext cx="558641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876550"/>
            <a:ext cx="3333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東芝 AW-9DPB6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1623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総外形1033mm → 手前831mm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1349" y="2971800"/>
            <a:ext cx="1333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831mm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0" y="3943350"/>
            <a:ext cx="2771299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95750" y="3943350"/>
            <a:ext cx="503872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3829050"/>
            <a:ext cx="3333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東芝 AW-10DPB6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1148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総外形1033mm → 手前826mm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1349" y="3924300"/>
            <a:ext cx="1333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826mm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濃い棒が手前の高さ、薄い棒が総外形高さ。差207mmは12kgと10kgで同じです。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640の内寸奥行は28mm違う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LIXILは618mm、パナソニックは590mm。800は584mmで一致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640同士の内寸奥行の差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28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9814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5339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81650" y="1752600"/>
            <a:ext cx="19050" cy="339090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7850" y="1562100"/>
            <a:ext cx="12382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A8410F"/>
                </a:solidFill>
                <a:latin typeface="Yu Gothic UI"/>
              </a:rPr>
              <a:t>条件570mm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0" y="1924050"/>
            <a:ext cx="386334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1905000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LIXIL 640 PF-6464A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18859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618mm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0" y="2476500"/>
            <a:ext cx="24765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2457450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640 GB724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0" y="24384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590mm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0" y="3028950"/>
            <a:ext cx="217932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" y="3009900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LIXIL 800 PF-8064A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0" y="29908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584mm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750" y="3581400"/>
            <a:ext cx="217932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3562350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800 GB73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3543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584mm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5750" y="4133850"/>
            <a:ext cx="9906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4114800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LIXIL 900 PF-9064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0" y="40957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560mm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95750" y="4686300"/>
            <a:ext cx="24765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400" y="4667250"/>
            <a:ext cx="3429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Panasonic 900 GB731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0" y="46482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590mm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570mmの線は、奥行内寸570mm以上の条件です。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天板55mmで、上限50は外れる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公表クランプ可能厚に天板厚を当てる。耐荷重やインチではない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サンワ50上限が外れる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55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7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6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1543050"/>
            <a:ext cx="381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5" b="0">
                <a:solidFill>
                  <a:srgbClr val="6A717B"/>
                </a:solidFill>
                <a:latin typeface="Yu Gothic UI"/>
              </a:rPr>
              <a:t>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9875" y="1714500"/>
            <a:ext cx="19050" cy="283845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4125" y="1543050"/>
            <a:ext cx="762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5" b="1">
                <a:solidFill>
                  <a:srgbClr val="A8410F"/>
                </a:solidFill>
                <a:latin typeface="Yu Gothic UI"/>
              </a:rPr>
              <a:t>天板55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17716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19500" y="1905000"/>
            <a:ext cx="2667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1905000"/>
            <a:ext cx="2857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サンワ CR-LAC1405BK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1905000"/>
            <a:ext cx="1333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10〜50mm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9500" y="2457450"/>
            <a:ext cx="266700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A8410F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2457450"/>
            <a:ext cx="2857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サンワ CR-LAC116BK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2457450"/>
            <a:ext cx="1333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10〜50mm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9500" y="3009900"/>
            <a:ext cx="333375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009900"/>
            <a:ext cx="2857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Ergotron LX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0" y="3009900"/>
            <a:ext cx="1333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10〜60mm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9500" y="3562350"/>
            <a:ext cx="4667250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3562350"/>
            <a:ext cx="2857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エレコム DPA-SN01BK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0" y="3562350"/>
            <a:ext cx="1333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10〜80mm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86250" y="4114800"/>
            <a:ext cx="460057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114800"/>
            <a:ext cx="2857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HUANUO SS43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2075" y="4114800"/>
            <a:ext cx="1333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20〜89mm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○は天板厚が公表クランプ可能厚レンジに入るときだけです。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Lは高いが、奥行は浅い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カーメイト バイアスロンのケース外寸。品番が大きい＝全部が大きい、ではない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LがMより浅い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50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619250"/>
            <a:ext cx="2667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高さ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3500" y="2000250"/>
            <a:ext cx="3429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200025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200025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124mm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33500" y="2667000"/>
            <a:ext cx="60007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" y="266700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9775" y="266700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139mm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33500" y="3333750"/>
            <a:ext cx="109728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" y="333375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6980" y="333375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168mm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500" y="1619250"/>
            <a:ext cx="2667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幅 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500" y="2000250"/>
            <a:ext cx="10477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0500" y="200025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475" y="200025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524mm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1500" y="2667000"/>
            <a:ext cx="183356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500" y="266700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1056" y="266700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539mm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500" y="3333750"/>
            <a:ext cx="183356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500" y="333375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1056" y="333375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539mm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0" y="1619250"/>
            <a:ext cx="2667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奥行 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29500" y="2000250"/>
            <a:ext cx="2667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8500" y="200025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00025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401mm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9500" y="2667000"/>
            <a:ext cx="46672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8500" y="266700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2425" y="266700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431mm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29500" y="3333750"/>
            <a:ext cx="13335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0" y="3333750"/>
            <a:ext cx="342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9050" y="3333750"/>
            <a:ext cx="857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381mm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ヤリス公表荷室（長630×幅1,000×高692）には S／M／Lいずれも1ケースは収まります。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同じ9号でも、容量は1.45倍ちがう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銀峯陶器18製品の公表値。濃い色が下限、薄い色までが号数ごとのはば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9号のなかで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1.45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809750"/>
            <a:ext cx="10439400" cy="5905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476500"/>
            <a:ext cx="10439400" cy="5905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143250"/>
            <a:ext cx="10439400" cy="5905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810000"/>
            <a:ext cx="10439400" cy="5905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810000"/>
            <a:ext cx="47625" cy="5905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476750"/>
            <a:ext cx="10439400" cy="5905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81250" y="1962150"/>
            <a:ext cx="1097280" cy="3048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81250" y="1962150"/>
            <a:ext cx="731520" cy="304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1962150"/>
            <a:ext cx="1524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6号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1962150"/>
            <a:ext cx="1619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0.6〜0.9ℓ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0" y="19621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1人前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81250" y="2628900"/>
            <a:ext cx="1828800" cy="3048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81250" y="2628900"/>
            <a:ext cx="1219200" cy="304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2628900"/>
            <a:ext cx="1524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7号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2628900"/>
            <a:ext cx="1619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1.0〜1.5ℓ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0" y="26289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1〜2人前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81250" y="3295650"/>
            <a:ext cx="2682240" cy="3048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81250" y="3295650"/>
            <a:ext cx="1828800" cy="304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3295650"/>
            <a:ext cx="1524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8号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3295650"/>
            <a:ext cx="1619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1.5〜2.2ℓ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0" y="32956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1〜3人前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81250" y="3962400"/>
            <a:ext cx="3901440" cy="3048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81250" y="3962400"/>
            <a:ext cx="2682240" cy="304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850" y="3962400"/>
            <a:ext cx="1524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9号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0" y="3962400"/>
            <a:ext cx="1619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2.2〜3.2ℓ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500" y="39624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2〜5人前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81250" y="4629150"/>
            <a:ext cx="4876800" cy="3048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381250" y="4629150"/>
            <a:ext cx="3535680" cy="304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4629150"/>
            <a:ext cx="1524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10号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0" y="4629150"/>
            <a:ext cx="1619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2.9〜4.0ℓ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4500" y="46291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3〜6人前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号数が決めているのは口径だけで、容量と人数は決めていません。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同じ9号で、2〜3人前 と 4〜5人前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銀峯陶器の公表値。口径の差は0.5cmしかありません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容量の差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1.45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905000"/>
            <a:ext cx="10439400" cy="6667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1905000"/>
            <a:ext cx="47625" cy="666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647950"/>
            <a:ext cx="10439400" cy="666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390900"/>
            <a:ext cx="10439400" cy="6667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133850"/>
            <a:ext cx="10439400" cy="666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0500" y="2076450"/>
            <a:ext cx="2200275" cy="32385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000250"/>
            <a:ext cx="3143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墨貫入 9号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26695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口径28cm ／ 高さ15cm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2076450"/>
            <a:ext cx="10477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2.2ℓ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0" y="2076450"/>
            <a:ext cx="16192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2〜3人前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0500" y="2819400"/>
            <a:ext cx="2700338" cy="32385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2743200"/>
            <a:ext cx="3143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菊花 9号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300990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口径28.5cm ／ 高さ15.5cm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4188" y="2819400"/>
            <a:ext cx="10477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2.7ℓ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2819400"/>
            <a:ext cx="16192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3〜4人前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0500" y="3562350"/>
            <a:ext cx="3000375" cy="32385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3486150"/>
            <a:ext cx="3143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菊花 深型 9号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75285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口径28.5cm ／ 高さ17cm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4225" y="3562350"/>
            <a:ext cx="10477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3.0ℓ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3562350"/>
            <a:ext cx="16192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4〜5人前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0500" y="4305300"/>
            <a:ext cx="3200400" cy="32385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850" y="4229100"/>
            <a:ext cx="3143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花三島 9号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" y="449580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口径28cm ／ 高さ16cm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4250" y="4305300"/>
            <a:ext cx="10477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3.2ℓ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4305300"/>
            <a:ext cx="16192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4〜5人前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口径が同じでも、深さが違えば入る量が変わります。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広げると、奥行が最大14.5倍になります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濃い色がしまうとき、薄い色が広げたとき。メーカー公表の寸法から計算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いちばん差が大きい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14.5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71650"/>
            <a:ext cx="10439400" cy="609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457450"/>
            <a:ext cx="10439400" cy="6096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143250"/>
            <a:ext cx="10439400" cy="609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829050"/>
            <a:ext cx="10439400" cy="6096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514850"/>
            <a:ext cx="10439400" cy="6096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514850"/>
            <a:ext cx="47625" cy="6096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76650" y="1895475"/>
            <a:ext cx="755904" cy="36195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76650" y="1895475"/>
            <a:ext cx="438912" cy="3619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18859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長谷川 SE-3a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21336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18cm → 31cm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4954" y="1895475"/>
            <a:ext cx="12382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14172"/>
                </a:solidFill>
                <a:latin typeface="Yu Gothic UI"/>
              </a:rPr>
              <a:t>1.7倍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6650" y="2581275"/>
            <a:ext cx="1609344" cy="36195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76650" y="2581275"/>
            <a:ext cx="438912" cy="3619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25717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長谷川 SE-8a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28194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18cm → 66cm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8394" y="2581275"/>
            <a:ext cx="12382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14172"/>
                </a:solidFill>
                <a:latin typeface="Yu Gothic UI"/>
              </a:rPr>
              <a:t>3.7倍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6650" y="3267075"/>
            <a:ext cx="2633472" cy="36195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76650" y="3267075"/>
            <a:ext cx="414528" cy="3619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32575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長谷川 RHB-18a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35052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17cm → 108cm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2522" y="3267075"/>
            <a:ext cx="12382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14172"/>
                </a:solidFill>
                <a:latin typeface="Yu Gothic UI"/>
              </a:rPr>
              <a:t>6.4倍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76650" y="3952875"/>
            <a:ext cx="2535936" cy="36195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76650" y="3952875"/>
            <a:ext cx="234086" cy="3619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850" y="39433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長谷川 EFA-11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41910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9.6cm → 104cm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986" y="3952875"/>
            <a:ext cx="12382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14172"/>
                </a:solidFill>
                <a:latin typeface="Yu Gothic UI"/>
              </a:rPr>
              <a:t>10.8倍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76650" y="4638675"/>
            <a:ext cx="6096000" cy="36195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76650" y="4638675"/>
            <a:ext cx="419405" cy="3619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4629150"/>
            <a:ext cx="2667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アルインコ PRT-360FX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50" y="4876800"/>
            <a:ext cx="2667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17.2cm → 250cm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5050" y="4638675"/>
            <a:ext cx="12382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14172"/>
                </a:solidFill>
                <a:latin typeface="Yu Gothic UI"/>
              </a:rPr>
              <a:t>14.5倍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薄くしまえるものほど、広げたときの差が大きくなります。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広げても幅は変わりません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長谷川工業 RHB-18a を上から見た図。伸びるのは奥行だけ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奥行だけが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6.4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0495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しまうとき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526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幅 62cm × 奥行 17cm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019300"/>
            <a:ext cx="1535430" cy="2674620"/>
          </a:xfrm>
          <a:prstGeom prst="rect">
            <a:avLst/>
          </a:prstGeom>
          <a:noFill/>
          <a:ln w="19050">
            <a:solidFill>
              <a:srgbClr val="01417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2019300"/>
            <a:ext cx="1535430" cy="421005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2727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14172"/>
                </a:solidFill>
                <a:latin typeface="Yu Gothic UI"/>
              </a:rPr>
              <a:t>破線まで広がります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0" y="150495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広げたとき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0" y="17526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幅 62cm × 奥行 108cm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0" y="2019300"/>
            <a:ext cx="1535430" cy="267462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7000" y="1885950"/>
            <a:ext cx="4152900" cy="135255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0" y="2133600"/>
            <a:ext cx="3810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奥行だけが伸びます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243840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17cm → 108cm（6.4倍）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27241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幅は 62cm のまま変わりません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0" y="3486150"/>
            <a:ext cx="4152900" cy="11620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AE7F2"/>
            </a:solidFill>
          </a:ln>
          <a:effectLst>
            <a:outerShdw blurRad="177800" dist="38100" dir="5400000" rotWithShape="0">
              <a:srgbClr val="0B2B45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0" y="36766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いちばん差が大きいのは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3943350"/>
            <a:ext cx="3810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アルインコ PRT-360FX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422910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17.2cm → 250cm（14.5倍）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しまう場所と広げる場所は、別々に測ってください。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薄くしまえることと、狭い場所で使えることは別の話です。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500mlは何本入る？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容量Lではなく「内寸」で決まります。同じ20Lでも15本と18本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20Lに丸型なら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0" y="2038350"/>
            <a:ext cx="3566160" cy="201168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34000" y="2038350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60364" y="2038350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6728" y="2038350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13092" y="2038350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39456" y="2038350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4000" y="2664714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60364" y="2664714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6728" y="2664714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13092" y="2664714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39456" y="2664714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34000" y="3291078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60364" y="3291078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6728" y="3291078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13092" y="3291078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39456" y="3291078"/>
            <a:ext cx="626364" cy="626364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0" y="175260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内寸 22 × 39cm ／ 丸型 68.5φ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4183380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灰色は割り切れずに捨てられる余り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0002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床に並ぶ数で決まります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495550"/>
            <a:ext cx="4000500" cy="571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50" b="1">
                <a:solidFill>
                  <a:srgbClr val="2E2E33"/>
                </a:solidFill>
                <a:latin typeface="Yu Gothic UI"/>
              </a:rPr>
              <a:t>5列 × 3行 ＝ </a:t>
            </a:r>
            <a:r>
              <a:rPr sz="3450" b="1">
                <a:solidFill>
                  <a:srgbClr val="014172"/>
                </a:solidFill>
                <a:latin typeface="Yu Gothic UI"/>
              </a:rPr>
              <a:t>15</a:t>
            </a:r>
            <a:r>
              <a:rPr sz="180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143250"/>
            <a:ext cx="4000500" cy="914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250" y="333375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同じ20Lでも 15本 と 18本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250" y="363855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容量Lは中身の広さを表していません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容量Lではなく、内寸の掛け算で決まります。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2Lペットボトルは立てて入る？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10〜25Lには、まず立ちません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はみ出す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51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6250" y="2333625"/>
            <a:ext cx="2286000" cy="2428875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066925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内寸の深さ 255mm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7750" y="1847850"/>
            <a:ext cx="914400" cy="291465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7750" y="48958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2Lボトル 全高 306mm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0" y="1847850"/>
            <a:ext cx="914400" cy="485775"/>
          </a:xfrm>
          <a:prstGeom prst="rect">
            <a:avLst/>
          </a:prstGeom>
          <a:solidFill>
            <a:srgbClr val="FDF2E4"/>
          </a:soli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1905000"/>
            <a:ext cx="2857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A8410F"/>
                </a:solidFill>
                <a:latin typeface="Yu Gothic UI"/>
              </a:rPr>
              <a:t>51mm はみ出す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9500" y="2038350"/>
            <a:ext cx="3200400" cy="11430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0" y="2247900"/>
            <a:ext cx="2857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1.5L も同じ高さです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0" y="25527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容量が減った分、細くなる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28194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だけで背は変わりません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10〜25Lのクーラーボックスには、まず立ちません。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同じ26Lクラス。深さが1.5倍ちがう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内寸を横から見た図。橙は2Lペットボトル（全高306mm）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深さの差が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1.5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18097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コールマン 28QT（約26L）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750" y="1895475"/>
            <a:ext cx="2476500" cy="2867025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95500" y="2255901"/>
            <a:ext cx="800100" cy="250659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DF2E4"/>
              </a:gs>
              <a:gs pos="100000">
                <a:srgbClr val="FDF2E4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8750" y="4914900"/>
            <a:ext cx="3810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深さ 350mm ／ 2Lが立つ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18097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ダイワ PV-REX 2800（28L）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2837498"/>
            <a:ext cx="2476500" cy="1925002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2750" y="2255901"/>
            <a:ext cx="800100" cy="250659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DF2E4"/>
              </a:gs>
              <a:gs pos="100000">
                <a:srgbClr val="FDF2E4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4914900"/>
            <a:ext cx="3810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A8410F"/>
                </a:solidFill>
                <a:latin typeface="Yu Gothic UI"/>
              </a:rPr>
              <a:t>深さ 235mm ／ 2Lは立たない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1970151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A8410F"/>
                </a:solidFill>
                <a:latin typeface="Yu Gothic UI"/>
              </a:rPr>
              <a:t>2Lの高さ 306mm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同じ容量表示でも、深さは1.5倍ちがいます。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80L と 60L。長さは同じ 85cm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ダイワ トランクマスター の内寸を横から見た図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長辺はどちらも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85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1714500"/>
            <a:ext cx="4762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80L　トランクマスターHD III 8000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8750" y="2000250"/>
            <a:ext cx="4371975" cy="1620203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1225" y="2038350"/>
            <a:ext cx="247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014172"/>
                </a:solidFill>
                <a:latin typeface="Yu Gothic UI"/>
              </a:rPr>
              <a:t>長辺 85cm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1225" y="2343150"/>
            <a:ext cx="2476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深さ 31.5cm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429000"/>
            <a:ext cx="4762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60L　トランクマスターHD II 6000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8750" y="3714750"/>
            <a:ext cx="4371975" cy="1208722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1225" y="3752850"/>
            <a:ext cx="247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014172"/>
                </a:solidFill>
                <a:latin typeface="Yu Gothic UI"/>
              </a:rPr>
              <a:t>長辺 85cm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225" y="4057650"/>
            <a:ext cx="2476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深さ 23.5cm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容量が増えても長さは同じ。増えるのは深さです。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「20L」は何の20L？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外寸の体積のうち、中身に使えるのは 28.9〜40.0%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46Lの箱で使えるのは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13.4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038350"/>
            <a:ext cx="3857625" cy="264033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48765" y="2578418"/>
            <a:ext cx="2588895" cy="1560195"/>
          </a:xfrm>
          <a:prstGeom prst="rect">
            <a:avLst/>
          </a:prstGeom>
          <a:solidFill>
            <a:srgbClr val="EEF4F9"/>
          </a:solidFill>
          <a:ln w="28575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52600"/>
            <a:ext cx="4762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アイリスオーヤマ HUGEL 15L を上から見た床面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12030"/>
            <a:ext cx="5334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外寸 45.0 × 30.8cm ／ 内寸 30.2 × 18.2cm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203835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外寸で測ると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0" y="2362200"/>
            <a:ext cx="38100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2E2E33"/>
                </a:solidFill>
                <a:latin typeface="Yu Gothic UI"/>
              </a:rPr>
              <a:t>46</a:t>
            </a:r>
            <a:r>
              <a:rPr sz="1800" b="1">
                <a:solidFill>
                  <a:srgbClr val="2E2E33"/>
                </a:solidFill>
                <a:latin typeface="Yu Gothic UI"/>
              </a:rPr>
              <a:t> L の箱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0" y="3048000"/>
            <a:ext cx="3810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中身に使えるのは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0" y="3371850"/>
            <a:ext cx="38100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014172"/>
                </a:solidFill>
                <a:latin typeface="Yu Gothic UI"/>
              </a:rPr>
              <a:t>13.4</a:t>
            </a:r>
            <a:r>
              <a:rPr sz="1800" b="1">
                <a:solidFill>
                  <a:srgbClr val="014172"/>
                </a:solidFill>
                <a:latin typeface="Yu Gothic UI"/>
              </a:rPr>
              <a:t> 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05500" y="3981450"/>
            <a:ext cx="4000500" cy="59055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6950" y="4152900"/>
            <a:ext cx="361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公表容量は 15L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外寸で測った体積のうち、中に入るのは 28.9〜40.0% 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保冷剤を入れると 500ml は何本減る？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ダイワ S2000（20L）内寸 22 × 39cm ／ 500ml角型 ／ 保冷剤なしなら18本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寝かせると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" y="1866900"/>
            <a:ext cx="4476750" cy="2857500"/>
          </a:xfrm>
          <a:prstGeom prst="roundRect">
            <a:avLst>
              <a:gd name="adj" fmla="val 4000"/>
            </a:avLst>
          </a:prstGeom>
          <a:solidFill>
            <a:srgbClr val="FDF2E4"/>
          </a:soli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2076450"/>
            <a:ext cx="4000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床に寝かせる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2571750"/>
            <a:ext cx="40005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00" b="1">
                <a:solidFill>
                  <a:srgbClr val="A8410F"/>
                </a:solidFill>
                <a:latin typeface="Yu Gothic UI"/>
              </a:rPr>
              <a:t>6</a:t>
            </a:r>
            <a:r>
              <a:rPr sz="2250" b="1">
                <a:solidFill>
                  <a:srgbClr val="A8410F"/>
                </a:solidFill>
                <a:latin typeface="Yu Gothic UI"/>
              </a:rPr>
              <a:t>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7147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保冷剤が床を占めます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40957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並べられる列が減ります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8850" y="1866900"/>
            <a:ext cx="4476750" cy="28575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076450"/>
            <a:ext cx="4000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2E2E33"/>
                </a:solidFill>
                <a:latin typeface="Yu Gothic UI"/>
              </a:rPr>
              <a:t>壁に立てかける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571750"/>
            <a:ext cx="40005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700" b="1">
                <a:solidFill>
                  <a:srgbClr val="014172"/>
                </a:solidFill>
                <a:latin typeface="Yu Gothic UI"/>
              </a:rPr>
              <a:t>18</a:t>
            </a:r>
            <a:r>
              <a:rPr sz="22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37147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本数は減りません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409575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壁に立てれば床が空きます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同じ箱・同じ保冷剤でも、置き方で 6本 と 18本 に分かれます。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メーカー公表の内寸と保冷剤11製品の公表寸法から計算（実測ではありません）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保冷剤は何枚まで入るか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氷点下パックM（196×138×厚26mm）／ 500ml角型を減らさない枚数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いちばん多くて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7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30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057400"/>
            <a:ext cx="10439400" cy="3048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438400"/>
            <a:ext cx="10439400" cy="30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2819400"/>
            <a:ext cx="10439400" cy="3048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200400"/>
            <a:ext cx="10439400" cy="30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581400"/>
            <a:ext cx="10439400" cy="3048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3962400"/>
            <a:ext cx="10439400" cy="30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4343400"/>
            <a:ext cx="10439400" cy="3048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" y="4724400"/>
            <a:ext cx="10439400" cy="3048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4724400"/>
            <a:ext cx="47625" cy="3048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1714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S1000X（10L）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6750" y="1733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0200" y="1714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1枚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095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アイリスオーヤマ HUGEL 15L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76750" y="2114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095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1枚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2476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S1500（15L）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6750" y="2495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34000" y="2495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7450" y="2476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2枚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2857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S2000（20L）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6750" y="2876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34000" y="2876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7450" y="2857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2枚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3238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ロゴス ハイパーL（20L）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76750" y="3257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34000" y="3257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91250" y="3257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24700" y="3238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3枚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50" y="3619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アイリスオーヤマ HUGEL 20L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76750" y="3638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34000" y="3638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1250" y="3638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48500" y="3638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1950" y="3619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4枚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" y="4000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コールマン 28QT（約26L）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6750" y="4019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34000" y="4019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91250" y="4019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48500" y="4019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1950" y="4000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4枚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850" y="4381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S2500（25L）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76750" y="4400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334000" y="4400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91250" y="4400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048500" y="4400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905750" y="4400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763000" y="4400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6450" y="4381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6枚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850" y="4762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アイリスオーヤマ HUGEL 40L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7675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33400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9125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04850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90575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76300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20250" y="4781550"/>
            <a:ext cx="800100" cy="190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53700" y="4762500"/>
            <a:ext cx="857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7枚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同じ「入る」でも、製品で1枚と7枚に分かれます。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ダイワ「KEEP」と シマノ「COOL」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名前は違っても、同じ物差しでした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測り方は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同じ</a:t>
            </a:r>
            <a:r>
              <a:rPr sz="1950" b="1">
                <a:solidFill>
                  <a:srgbClr val="014172"/>
                </a:solidFill>
                <a:latin typeface="Yu Gothic U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" y="1866900"/>
            <a:ext cx="4286250" cy="142875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2152650"/>
            <a:ext cx="3810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14172"/>
                </a:solidFill>
                <a:latin typeface="Yu Gothic UI"/>
              </a:rPr>
              <a:t>KEEP</a:t>
            </a:r>
            <a:r>
              <a:rPr sz="1950" b="1">
                <a:solidFill>
                  <a:srgbClr val="2E2E33"/>
                </a:solidFill>
                <a:latin typeface="Yu Gothic UI"/>
              </a:rPr>
              <a:t>  26 〜 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2781300"/>
            <a:ext cx="3810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6A717B"/>
                </a:solidFill>
                <a:latin typeface="Yu Gothic UI"/>
              </a:rPr>
              <a:t>ダイワ クールラインα3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8350" y="1866900"/>
            <a:ext cx="4286250" cy="142875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0" y="2152650"/>
            <a:ext cx="3810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14172"/>
                </a:solidFill>
                <a:latin typeface="Yu Gothic UI"/>
              </a:rPr>
              <a:t>COOL</a:t>
            </a:r>
            <a:r>
              <a:rPr sz="1950" b="1">
                <a:solidFill>
                  <a:srgbClr val="2E2E33"/>
                </a:solidFill>
                <a:latin typeface="Yu Gothic UI"/>
              </a:rPr>
              <a:t>  32 〜 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781300"/>
            <a:ext cx="3810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6A717B"/>
                </a:solidFill>
                <a:latin typeface="Yu Gothic UI"/>
              </a:rPr>
              <a:t>シマノ フィクセル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3600450"/>
            <a:ext cx="9715500" cy="1447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848100"/>
            <a:ext cx="857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E2E33"/>
                </a:solidFill>
                <a:latin typeface="Yu Gothic UI"/>
              </a:rPr>
              <a:t>どちらも JIS S 2048：2006 の簡便法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29100"/>
            <a:ext cx="8953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外気40℃ ／ 本体容量の25%の角氷 ／ 氷が溶け切るまでの時間に換算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72000"/>
            <a:ext cx="8953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両社とも「目安であり保証値ではない」と明記しています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名前が違うだけで、中身は同じ物差しです。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両社の公表資料で確認しました（実測ではありません）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同じ「9号まで」でも幅が違う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横棒は本体幅。破線は9号土鍋でいちばん幅のある墨貫入（32.5cm）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土鍋との差は最大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6.6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4000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152650"/>
            <a:ext cx="10439400" cy="4000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628900"/>
            <a:ext cx="10439400" cy="4000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105150"/>
            <a:ext cx="10439400" cy="4000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581400"/>
            <a:ext cx="10439400" cy="4000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057650"/>
            <a:ext cx="10439400" cy="4000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533900"/>
            <a:ext cx="10439400" cy="4000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300" y="4533900"/>
            <a:ext cx="47625" cy="4000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43250" y="1752600"/>
            <a:ext cx="5373624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" y="175260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スリム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174" y="175260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32.8cm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43250" y="2228850"/>
            <a:ext cx="5471922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22885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スマート／ウィンドシールド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9472" y="222885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33.4cm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43250" y="2705100"/>
            <a:ext cx="548830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850" y="270510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達人スリムV／達人スリムβ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5855" y="270510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33.5cm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43250" y="3181350"/>
            <a:ext cx="5521071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318135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621" y="318135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33.7cm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43250" y="3657600"/>
            <a:ext cx="5815965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850" y="365760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アモルフォプレミアム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3515" y="365760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35.5cm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43250" y="4133850"/>
            <a:ext cx="5873306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413385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雅SLIM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0856" y="413385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35.85cm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43250" y="4610100"/>
            <a:ext cx="6405753" cy="2476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850" y="4610100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3303" y="4610100"/>
            <a:ext cx="10477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39.1cm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7725" y="1619250"/>
            <a:ext cx="9525" cy="3276600"/>
          </a:xfrm>
          <a:prstGeom prst="rect">
            <a:avLst/>
          </a:prstGeom>
          <a:noFill/>
          <a:ln w="19050">
            <a:solidFill>
              <a:srgbClr val="A8410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9475" y="4991100"/>
            <a:ext cx="2476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A8410F"/>
                </a:solidFill>
                <a:latin typeface="Yu Gothic UI"/>
              </a:rPr>
              <a:t>9号土鍋 32.5cm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「9号まで」は号数の目安で、寸法ではありません。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ボンベ1本は55〜78分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濃い部分が「250g ÷ ガス消費量」。薄い部分まで伸びると公表の連続燃焼時間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いちばん長くて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78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22885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78130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33375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88620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4386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4386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00500" y="1771650"/>
            <a:ext cx="29337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171450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BO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194310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286g/h ／ ＋3分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177165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55分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0500" y="2324100"/>
            <a:ext cx="416052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26695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スマート／ウィンドシールド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49555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254g/h ／ ＋19分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2410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78分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0500" y="2876550"/>
            <a:ext cx="362712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281940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達人スリムV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04800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245g/h ／ ＋7分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1920" y="287655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68分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00500" y="3429000"/>
            <a:ext cx="373380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337185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スリム ほか2機種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360045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236g/h ／ ＋6分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8600" y="342900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70分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00500" y="3981450"/>
            <a:ext cx="384048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392430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エコプレミアムIII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" y="415290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210g/h ／ ＋1分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98145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72分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00500" y="4533900"/>
            <a:ext cx="597408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4476750"/>
            <a:ext cx="3143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ミニ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50" y="4705350"/>
            <a:ext cx="31432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135g/h ／ ＋1分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8880" y="4533900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112分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火力が強い機種ほど、早く使い切ります。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6本に届くのは「全部まかなう」とき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1人・1週間あたり ／ 気温10℃での計算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全部まかなっても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5.8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905000"/>
            <a:ext cx="10439400" cy="6477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1905000"/>
            <a:ext cx="47625" cy="6477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628900"/>
            <a:ext cx="10439400" cy="6477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352800"/>
            <a:ext cx="10439400" cy="6477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076700"/>
            <a:ext cx="10439400" cy="6477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95750" y="2057400"/>
            <a:ext cx="5248275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0193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食事＋カップ麺＋飲み物＋お湯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2669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全部まかなう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8325" y="2057400"/>
            <a:ext cx="9525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5.8本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0" y="2781300"/>
            <a:ext cx="4071938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27432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食事＋飲み物＋お湯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29908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カップ麺なし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1988" y="2781300"/>
            <a:ext cx="9525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4.5本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0" y="3505200"/>
            <a:ext cx="2895600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34671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食事＋飲み物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37147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お湯を沸かさない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5650" y="3505200"/>
            <a:ext cx="9525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3.2本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0" y="4229100"/>
            <a:ext cx="2262188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41910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食事だけ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44386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1日3回のレトルト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2238" y="4229100"/>
            <a:ext cx="9525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2.5本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5000" y="1828800"/>
            <a:ext cx="9525" cy="2857500"/>
          </a:xfrm>
          <a:prstGeom prst="rect">
            <a:avLst/>
          </a:prstGeom>
          <a:noFill/>
          <a:ln w="19050">
            <a:solidFill>
              <a:srgbClr val="A8410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0" y="1581150"/>
            <a:ext cx="2476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農林水産省の目安 6本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「1人6本」はカップ麺まで含めた全部の想定でした。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農水省とイワタニの公表値からの計算です（実測ではありません）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土鍋の「号数」は幅を決めていません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銀峯陶器の公表寸法。同じ号数でもシリーズで幅が違う（幅は取手込み）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コンロの本体幅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33.4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71650"/>
            <a:ext cx="10439400" cy="5524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400300"/>
            <a:ext cx="10439400" cy="5524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028950"/>
            <a:ext cx="10439400" cy="5524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657600"/>
            <a:ext cx="10439400" cy="5524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657600"/>
            <a:ext cx="47625" cy="5524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286250"/>
            <a:ext cx="10439400" cy="5524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86150" y="1905000"/>
            <a:ext cx="20955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190500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6号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9050" y="190500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21〜22cm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533650"/>
            <a:ext cx="523875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253365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7号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2025" y="253365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24〜26.5cm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43450" y="3162300"/>
            <a:ext cx="523875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316230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8号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675" y="316230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27〜29.5cm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81650" y="3790950"/>
            <a:ext cx="314325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379095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9号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9325" y="379095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31〜32.5cm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300" y="4419600"/>
            <a:ext cx="41910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441960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10号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2750" y="4419600"/>
            <a:ext cx="1714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34〜36cm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4570" y="1695450"/>
            <a:ext cx="9525" cy="3067050"/>
          </a:xfrm>
          <a:prstGeom prst="rect">
            <a:avLst/>
          </a:prstGeom>
          <a:noFill/>
          <a:ln w="19050">
            <a:solidFill>
              <a:srgbClr val="A8410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13070" y="1447800"/>
            <a:ext cx="4000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カセットコンロの本体幅 33.4cm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同じ号数でも、シリーズで幅が違います。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同じ「180」でも天板の高さが違う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型番に180が付く4シリーズのメーカー公表値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実際に立てるのは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1.40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5715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24100"/>
            <a:ext cx="10439400" cy="5715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971800"/>
            <a:ext cx="10439400" cy="5715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619500"/>
            <a:ext cx="10439400" cy="5715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267200"/>
            <a:ext cx="10439400" cy="5715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267200"/>
            <a:ext cx="47625" cy="5715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0000" y="1828800"/>
            <a:ext cx="582930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17716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アルインコ BSA-180A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20193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専用脚立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3600" y="18288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1.80m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0" y="2476500"/>
            <a:ext cx="582930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24193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ピカ SEC-S180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26670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専用脚立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600" y="24765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1.80m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0" y="3124200"/>
            <a:ext cx="550545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850" y="30670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RHB-18a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33147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はしご兼用脚立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0" y="31242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1.70m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0000" y="3771900"/>
            <a:ext cx="544068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37147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ピカ MCX-180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39624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はしご兼用脚立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4980" y="37719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1.68m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4419600"/>
            <a:ext cx="453390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FDF2E4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850" y="43624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RHB-18a に立てる高さ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46101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天板には乗れません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4196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1.40m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専用脚立は型番＝天板高さ。はしご兼用脚立は型番より9〜12cm低い値でした。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同じ高さに立つのに 1.7kg と 6.3kg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足を置ける高さ0.5〜0.6m（伸縮脚付きは除く）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いちばん重いもの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6.3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5715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24100"/>
            <a:ext cx="10439400" cy="5715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971800"/>
            <a:ext cx="10439400" cy="5715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619500"/>
            <a:ext cx="10439400" cy="5715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267200"/>
            <a:ext cx="10439400" cy="5715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267200"/>
            <a:ext cx="47625" cy="5715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95750" y="1828800"/>
            <a:ext cx="148971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17716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アルインコ CCA-60K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20193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 ／ 0.56m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760" y="18288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1.7kg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5750" y="2476500"/>
            <a:ext cx="157734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24193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SE-6a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26670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 ／ 0.56m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7390" y="24765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1.8kg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0" y="3124200"/>
            <a:ext cx="306705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850" y="30670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EFA-05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33147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踏台（上わく付き）／ 0.51m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7100" y="31242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3.5kg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750" y="3771900"/>
            <a:ext cx="315468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37147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RHB-09a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39624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はしご兼用脚立 ／ 0.50m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4730" y="37719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3.6kg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5750" y="4419600"/>
            <a:ext cx="5520690" cy="2857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850" y="43624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SWH-09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46101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強力型脚立 ／ 0.60m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0740" y="4419600"/>
            <a:ext cx="1047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6.3kg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踏台は天板高さ、脚立は使用最大高さでそろえています。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伸縮脚は21〜45cm。階段には届きません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3社5シリーズの公表値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階段で必要な高低差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69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266950"/>
            <a:ext cx="10439400" cy="5143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85750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448050"/>
            <a:ext cx="10439400" cy="5143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03860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629150"/>
            <a:ext cx="10439400" cy="5143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629150"/>
            <a:ext cx="47625" cy="5143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95750" y="1809750"/>
            <a:ext cx="172021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17526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RZS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19812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脚軽伸縮タイプ／専用脚立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0265" y="18097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21cm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5750" y="2400300"/>
            <a:ext cx="253936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3431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長谷川工業 RYZB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5717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はしご兼用伸縮脚立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9415" y="24003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31cm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0" y="2990850"/>
            <a:ext cx="253936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29337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ピカ スタッピー SXJ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1623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四脚アジャスト式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9415" y="29908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31cm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95750" y="3581400"/>
            <a:ext cx="360426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35242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アルインコ PRT-FX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37528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伸縮脚付専用脚立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4310" y="35814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44cm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95750" y="4171950"/>
            <a:ext cx="368617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41148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ピカ かるノビ SCL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" y="43434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階段用／前後の脚の長さが違う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6225" y="41719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45cm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95750" y="4762500"/>
            <a:ext cx="565213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F2E4"/>
              </a:gs>
              <a:gs pos="100000">
                <a:srgbClr val="FDF2E4"/>
              </a:gs>
            </a:gsLst>
            <a:lin scaled="0" ang="16200000"/>
          </a:gra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47053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階段で必要な高低差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50" y="49339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踏面15cm・蹴上げ23cm・3段ぶん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2185" y="47625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69cm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前脚と後脚は3段離れます。1段で済ませるには踏面が28cm近く必要でした。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「踏台」の天板は0.30mから1.61mまで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メーカーが呼び分けている天板高さの範囲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踏台なのに最大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1.61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905000"/>
            <a:ext cx="10439400" cy="7239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705100"/>
            <a:ext cx="10439400" cy="7239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705100"/>
            <a:ext cx="47625" cy="72390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505200"/>
            <a:ext cx="10439400" cy="7239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2450" y="2095500"/>
            <a:ext cx="1213485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203835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踏台（上わくなし）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22860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0.30 〜 0.79m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82515" y="2895600"/>
            <a:ext cx="2724150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283845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踏台（上わく付き）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30861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0.51 〜 1.61m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515" y="3695700"/>
            <a:ext cx="5423535" cy="32385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363855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脚立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38862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0.51 〜 2.70m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0700" y="1809750"/>
            <a:ext cx="9525" cy="2305050"/>
          </a:xfrm>
          <a:prstGeom prst="rect">
            <a:avLst/>
          </a:prstGeom>
          <a:noFill/>
          <a:ln w="19050">
            <a:solidFill>
              <a:srgbClr val="A8410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3450" y="15621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天板高さ 80cm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67200"/>
            <a:ext cx="571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4267200"/>
            <a:ext cx="571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0" y="4267200"/>
            <a:ext cx="571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上わくが付くと、80cmを超えても「踏台」と呼ばれていました。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届きたい高さ − 身長 ＝ 必要な足場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長谷川工業の「身長＋天板高さ＝作業高さ」を逆に使う（身長160cm基準）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2.4mに届くには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0.8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0150" y="1771650"/>
            <a:ext cx="2476500" cy="10287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1943100"/>
            <a:ext cx="2095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届きたい高さ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2266950"/>
            <a:ext cx="20955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14172"/>
                </a:solidFill>
                <a:latin typeface="Yu Gothic UI"/>
              </a:rPr>
              <a:t>2.4m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900" y="1771650"/>
            <a:ext cx="2476500" cy="10287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2500" y="1943100"/>
            <a:ext cx="2095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身長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2266950"/>
            <a:ext cx="20955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14172"/>
                </a:solidFill>
                <a:latin typeface="Yu Gothic UI"/>
              </a:rPr>
              <a:t>1.6m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2900" y="1771650"/>
            <a:ext cx="2476500" cy="102870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500" y="1943100"/>
            <a:ext cx="2095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必要な足場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2266950"/>
            <a:ext cx="20955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14172"/>
                </a:solidFill>
                <a:latin typeface="Yu Gothic UI"/>
              </a:rPr>
              <a:t>0.8m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9550" y="2076450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6A717B"/>
                </a:solidFill>
                <a:latin typeface="Yu Gothic UI"/>
              </a:rPr>
              <a:t>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6650" y="2076450"/>
            <a:ext cx="5715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6A717B"/>
                </a:solidFill>
                <a:latin typeface="Yu Gothic UI"/>
              </a:rPr>
              <a:t>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48000"/>
            <a:ext cx="4762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0.8m に足を置ける3つの選び方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850" y="3390900"/>
            <a:ext cx="3048000" cy="1428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81400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踏台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8100"/>
            <a:ext cx="2762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アルインコ CCA-80K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52900"/>
            <a:ext cx="2762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0.79m ／ 2.5kg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76750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いちばん軽く、短くしまえる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3850" y="3390900"/>
            <a:ext cx="3048000" cy="1428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581400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踏台（上わく付き）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848100"/>
            <a:ext cx="2762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アルインコ TBF-4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152900"/>
            <a:ext cx="2762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0.77m ／ 3.8kg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476750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手すりが天板の60cm上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2850" y="3390900"/>
            <a:ext cx="3048000" cy="1428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581400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717B"/>
                </a:solidFill>
                <a:latin typeface="Yu Gothic UI"/>
              </a:rPr>
              <a:t>はしご兼用脚立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848100"/>
            <a:ext cx="2762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長谷川工業 RHB-12a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152900"/>
            <a:ext cx="2762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0.80m ／ 4.5kg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76750"/>
            <a:ext cx="27622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天板には乗れない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脚立の「足を置ける高さ」は天板高さではなく、使用最大高さです。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1.5L も 2L とほぼ同じ高さ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棒がボトルの全高、線がクーラーボックスの内寸の深さ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立つのは深さ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310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716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241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876550"/>
            <a:ext cx="10439400" cy="4762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429000"/>
            <a:ext cx="10439400" cy="4762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3981450"/>
            <a:ext cx="10439400" cy="4762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3981450"/>
            <a:ext cx="47625" cy="4762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885950"/>
            <a:ext cx="324802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2F5F8"/>
              </a:gs>
              <a:gs pos="100000">
                <a:srgbClr val="F2F5F8"/>
              </a:gs>
            </a:gsLst>
            <a:lin scaled="0" ang="16200000"/>
          </a:gradFill>
          <a:ln w="19050">
            <a:solidFill>
              <a:srgbClr val="6A71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1885950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ダイワ10L・20L　内寸の深さ 220mm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4325" y="18859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A717B"/>
                </a:solidFill>
                <a:latin typeface="Yu Gothic UI"/>
              </a:rPr>
              <a:t>立たない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438400"/>
            <a:ext cx="3395662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2F5F8"/>
              </a:gs>
              <a:gs pos="100000">
                <a:srgbClr val="F2F5F8"/>
              </a:gs>
            </a:gsLst>
            <a:lin scaled="0" ang="16200000"/>
          </a:gradFill>
          <a:ln w="19050">
            <a:solidFill>
              <a:srgbClr val="6A71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2438400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ダイワ15L　内寸の深さ 230mm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1962" y="24384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A717B"/>
                </a:solidFill>
                <a:latin typeface="Yu Gothic UI"/>
              </a:rPr>
              <a:t>立たない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990850"/>
            <a:ext cx="3587591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2F5F8"/>
              </a:gs>
              <a:gs pos="100000">
                <a:srgbClr val="F2F5F8"/>
              </a:gs>
            </a:gsLst>
            <a:lin scaled="0" ang="16200000"/>
          </a:gradFill>
          <a:ln w="19050">
            <a:solidFill>
              <a:srgbClr val="6A71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2990850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ロゴス・アイリス　内寸の深さ 243mm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3891" y="29908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A717B"/>
                </a:solidFill>
                <a:latin typeface="Yu Gothic UI"/>
              </a:rPr>
              <a:t>立たない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543300"/>
            <a:ext cx="3764756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2F5F8"/>
              </a:gs>
              <a:gs pos="100000">
                <a:srgbClr val="F2F5F8"/>
              </a:gs>
            </a:gsLst>
            <a:lin scaled="0" ang="16200000"/>
          </a:gradFill>
          <a:ln w="19050">
            <a:solidFill>
              <a:srgbClr val="6A71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3543300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ダイワ25L　内寸の深さ 255mm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1056" y="354330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A717B"/>
                </a:solidFill>
                <a:latin typeface="Yu Gothic UI"/>
              </a:rPr>
              <a:t>立たない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095750"/>
            <a:ext cx="4576762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4095750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アイリス40L　内寸の深さ 310mm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3062" y="4095750"/>
            <a:ext cx="1524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14172"/>
                </a:solidFill>
                <a:latin typeface="Yu Gothic UI"/>
              </a:rPr>
              <a:t>2Lが立つ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9708" y="1695450"/>
            <a:ext cx="9525" cy="2686050"/>
          </a:xfrm>
          <a:prstGeom prst="rect">
            <a:avLst/>
          </a:prstGeom>
          <a:noFill/>
          <a:ln w="19050">
            <a:solidFill>
              <a:srgbClr val="A8410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8708" y="14478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8410F"/>
                </a:solidFill>
                <a:latin typeface="Yu Gothic UI"/>
              </a:rPr>
              <a:t>2Lの全高 306mm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1.5L（305〜307.5mm）は 2L（305〜306mm）とほぼ同じ高さです。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出典：ボトル＝料材開発／深さ＝各メーカー公式の内寸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床面積が同じでも本数は違う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どちらも 858cm² ／ 丸型ボトル 胴径 68.5mm ／ 灰色は割り切れない余り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ロゴスは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12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S2000（20L）　内寸 22 × 39cm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190750"/>
            <a:ext cx="2748915" cy="155067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2000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44822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27644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10467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93289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000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44822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27644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0467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93289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000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44822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27644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10467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93289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389382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39 ÷ 6.85 ＝ 5.7 → 5列 ／ 22 ÷ 6.85 ＝ 3.2 → 3行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ロゴス ハイパー氷点下クーラーL（20L）　内寸 33 × 26cm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5500" y="2190750"/>
            <a:ext cx="2326005" cy="183261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5500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88322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1144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53967" y="2190750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05500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88322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71144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53967" y="2673572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05500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88322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71144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53967" y="3156394"/>
            <a:ext cx="482822" cy="482822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05500" y="417576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33 ÷ 6.85 ＝ 4.8 → 4列 ／ 26 ÷ 6.85 ＝ 3.8 → 3行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4572000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E2E33"/>
                </a:solidFill>
                <a:latin typeface="Yu Gothic UI"/>
              </a:rPr>
              <a:t>5列 × 3行 ＝ </a:t>
            </a:r>
            <a:r>
              <a:rPr sz="2550" b="1">
                <a:solidFill>
                  <a:srgbClr val="014172"/>
                </a:solidFill>
                <a:latin typeface="Yu Gothic UI"/>
              </a:rPr>
              <a:t>15</a:t>
            </a:r>
            <a:r>
              <a:rPr sz="150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0" y="4572000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E2E33"/>
                </a:solidFill>
                <a:latin typeface="Yu Gothic UI"/>
              </a:rPr>
              <a:t>4列 × 3行 ＝ </a:t>
            </a:r>
            <a:r>
              <a:rPr sz="2550" b="1">
                <a:solidFill>
                  <a:srgbClr val="014172"/>
                </a:solidFill>
                <a:latin typeface="Yu Gothic UI"/>
              </a:rPr>
              <a:t>12</a:t>
            </a:r>
            <a:r>
              <a:rPr sz="150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広さではなく、胴径で割り切れるかで決まります。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公表容量は 20L と 22L。どちらも 15本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ボトルはシマノ公表の前提 Φ66 × 全高207mm ／ 灰色は使えない余り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どちらも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15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クールラインα3 2000（20L）　内寸 22 × 39cm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190750"/>
            <a:ext cx="2674620" cy="150876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2000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14628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67256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19884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2512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000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14628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67256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19884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72512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000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14628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67256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19884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72512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385191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メーカーの公表は18本（前提にしたボトルが違う）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305300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E2E33"/>
                </a:solidFill>
                <a:latin typeface="Yu Gothic UI"/>
              </a:rPr>
              <a:t>3列 × 5行 ＝ </a:t>
            </a:r>
            <a:r>
              <a:rPr sz="2550" b="1">
                <a:solidFill>
                  <a:srgbClr val="014172"/>
                </a:solidFill>
                <a:latin typeface="Yu Gothic UI"/>
              </a:rPr>
              <a:t>15</a:t>
            </a:r>
            <a:r>
              <a:rPr sz="150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シマノ フィクセル 22L　内寸（底部）21.1 × 39.1cm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00" y="2190750"/>
            <a:ext cx="2681478" cy="1447038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05500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58128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10756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63384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16012" y="2190750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05500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8128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10756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63384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16012" y="2643378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05500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58128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10756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63384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16012" y="3096006"/>
            <a:ext cx="452628" cy="452628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05500" y="3790188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本数の公表なし。内寸は「底部」の値を使った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0" y="4305300"/>
            <a:ext cx="38100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E2E33"/>
                </a:solidFill>
                <a:latin typeface="Yu Gothic UI"/>
              </a:rPr>
              <a:t>3列 × 5行 ＝ </a:t>
            </a:r>
            <a:r>
              <a:rPr sz="2550" b="1">
                <a:solidFill>
                  <a:srgbClr val="014172"/>
                </a:solidFill>
                <a:latin typeface="Yu Gothic UI"/>
              </a:rPr>
              <a:t>15</a:t>
            </a:r>
            <a:r>
              <a:rPr sz="150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公表容量が違っても、入る本数は同じでした。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同じ箱・同じ1枚。置き方だけで違う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ダイワ S2000（20L）内寸 22 × 39cm ／ 500ml角型 胴径60mm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寝かせると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氷点下パックL（25.5 × 16.4 × 厚2.5cm）を床に寝かせる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190750"/>
            <a:ext cx="2748915" cy="155067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2190750"/>
            <a:ext cx="1797368" cy="1155954"/>
          </a:xfrm>
          <a:prstGeom prst="rect">
            <a:avLst/>
          </a:prstGeom>
          <a:solidFill>
            <a:srgbClr val="FDF2E4"/>
          </a:soli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000" y="3384804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910" y="3384804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07820" y="3384804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000" y="3807714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4910" y="3807714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07820" y="3807714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389382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A8410F"/>
                </a:solidFill>
                <a:latin typeface="Yu Gothic UI"/>
              </a:rPr>
              <a:t>6</a:t>
            </a:r>
            <a:r>
              <a:rPr sz="1500" b="1">
                <a:solidFill>
                  <a:srgbClr val="A8410F"/>
                </a:solidFill>
                <a:latin typeface="Yu Gothic UI"/>
              </a:rPr>
              <a:t>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29387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残る帯は 22 − 16.4 ＝ 5.6cm。胴径6cmに足りず丸ごと死ぬ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氷点下パックM（19.6 × 13.8 × 厚2.6cm）を壁に立てかける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5500" y="2190750"/>
            <a:ext cx="2748915" cy="155067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05500" y="2190750"/>
            <a:ext cx="1381506" cy="183261"/>
          </a:xfrm>
          <a:prstGeom prst="rect">
            <a:avLst/>
          </a:prstGeom>
          <a:solidFill>
            <a:srgbClr val="DAE7F2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05500" y="219075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8410" y="219075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51320" y="219075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74230" y="219075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97140" y="219075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20050" y="219075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5500" y="261366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8410" y="261366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1320" y="261366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74230" y="261366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97140" y="261366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20050" y="261366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05500" y="303657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8410" y="303657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51320" y="303657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74230" y="303657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97140" y="303657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20050" y="3036570"/>
            <a:ext cx="422910" cy="42291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05500" y="389382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14172"/>
                </a:solidFill>
                <a:latin typeface="Yu Gothic UI"/>
              </a:rPr>
              <a:t>18</a:t>
            </a:r>
            <a:r>
              <a:rPr sz="1500" b="1">
                <a:solidFill>
                  <a:srgbClr val="014172"/>
                </a:solidFill>
                <a:latin typeface="Yu Gothic UI"/>
              </a:rPr>
              <a:t>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5500" y="429387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床の余り 4cm と 3cm に、厚さ2.6cmがそのまま収まる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面積ではなく、残った帯が胴径で割り切れるかで決まります。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斜めに置くと、長辺より長いものが入る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シマノ スペーザ 350（内寸 25.2 × 59.2 × 深さ 23.0cm）を上から見た床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立体の対角線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68.3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2190750"/>
            <a:ext cx="3608832" cy="1536192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2500" y="2190750"/>
            <a:ext cx="3608832" cy="1536192"/>
          </a:xfrm>
          <a:prstGeom prst="rect">
            <a:avLst/>
          </a:prstGeom>
          <a:noFill/>
          <a:ln w="19050">
            <a:solidFill>
              <a:srgbClr val="01417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5500" y="2000250"/>
            <a:ext cx="4572000" cy="11430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0" y="2190750"/>
            <a:ext cx="4191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6A717B"/>
                </a:solidFill>
                <a:latin typeface="Yu Gothic UI"/>
              </a:rPr>
              <a:t>床の対角線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2514600"/>
            <a:ext cx="419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>
                <a:solidFill>
                  <a:srgbClr val="014172"/>
                </a:solidFill>
                <a:latin typeface="Yu Gothic UI"/>
              </a:rPr>
              <a:t>√(25.2² ＋ 59.2²) ＝ 64.3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5500" y="3295650"/>
            <a:ext cx="457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3486150"/>
            <a:ext cx="4191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6A717B"/>
                </a:solidFill>
                <a:latin typeface="Yu Gothic UI"/>
              </a:rPr>
              <a:t>立体の対角線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810000"/>
            <a:ext cx="419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√(25.2² ＋ 59.2² ＋ 23.0²) ＝ 68.3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角の丸みや水栓の出っ張りは計算に入っていません。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どちらも15L。中の広さは違う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上から見た床面 ／ 灰色の外枠＝外寸、青い内枠＝内寸（メーカー公表値）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断熱で片側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6.3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アイリスオーヤマ HUGEL 15L（真空断熱パネル）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500" y="2190750"/>
            <a:ext cx="2743200" cy="1877568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3604" y="2574798"/>
            <a:ext cx="1840992" cy="1109472"/>
          </a:xfrm>
          <a:prstGeom prst="rect">
            <a:avLst/>
          </a:prstGeom>
          <a:solidFill>
            <a:srgbClr val="EEF4F9"/>
          </a:solidFill>
          <a:ln w="28575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4239768"/>
            <a:ext cx="4572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外寸 45.0 × 30.8cm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506468"/>
            <a:ext cx="4572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→ 内寸 30.2 × 18.2cm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77316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外寸と内寸の差は 長辺で片側7.4cm ／ 短辺で片側6.3cm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1905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2E2E33"/>
                </a:solidFill>
                <a:latin typeface="Yu Gothic UI"/>
              </a:rPr>
              <a:t>ダイワ クールラインα3 S1500（発泡スチロール）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2190750"/>
            <a:ext cx="2895600" cy="152400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434590"/>
            <a:ext cx="2194560" cy="1036320"/>
          </a:xfrm>
          <a:prstGeom prst="rect">
            <a:avLst/>
          </a:prstGeom>
          <a:solidFill>
            <a:srgbClr val="EEF4F9"/>
          </a:solidFill>
          <a:ln w="28575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0" y="3886200"/>
            <a:ext cx="4572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外寸 47.5 × 25.0cm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4152900"/>
            <a:ext cx="4572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→ 内寸 36.0 × 17.0cm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4419600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外寸と内寸の差は 長辺で片側5.75cm ／ 短辺で片側4.0cm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外寸が大きくても、断熱が厚ければ中は狭くなります。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入れたいものから内寸を逆に引く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容量Lは「何が入るか」を教えてくれない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内寸を並べた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33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製品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95450"/>
            <a:ext cx="10439400" cy="609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81250"/>
            <a:ext cx="10439400" cy="6096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3067050"/>
            <a:ext cx="10439400" cy="609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752850"/>
            <a:ext cx="10439400" cy="60960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438650"/>
            <a:ext cx="10439400" cy="609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17907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500ml ペットボトル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203835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全高 207mm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800" y="1866900"/>
            <a:ext cx="476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7907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内寸の辺 ÷ 胴径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0" y="18669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同じ20Lでも 15〜18本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24765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2L ペットボトル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272415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全高 306mm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3800" y="2552700"/>
            <a:ext cx="476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4765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内寸の深さ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0" y="25527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306mm以上は 33製品中9つ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31623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保冷剤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340995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厚さ 25〜35mm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3800" y="3238500"/>
            <a:ext cx="476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1623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深さの余り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0" y="32385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25mm未満なら床を食う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38481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大きい魚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409575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まっすぐ入る長さ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800" y="3924300"/>
            <a:ext cx="476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8481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内寸の長辺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0" y="39243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80cm以上は 3製品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" y="45339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持ち運び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50" y="478155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空のときの重さ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4610100"/>
            <a:ext cx="4762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14172"/>
                </a:solidFill>
                <a:latin typeface="Yu Gothic U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533900"/>
            <a:ext cx="2857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自重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4750" y="4610100"/>
            <a:ext cx="3238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1.5kg 〜 13.2kg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容量Lではなく、入れたいものから内寸を決めます。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「10号まで」でも土鍋のほうが広い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上から見た図 ／ 灰色＝コンロ本体、橙＝土鍋（口径31cm＋取手）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左右にはみ出す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1.3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2286000"/>
            <a:ext cx="2290572" cy="1879092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8596" y="2311146"/>
            <a:ext cx="2468880" cy="1828800"/>
          </a:xfrm>
          <a:prstGeom prst="ellipse">
            <a:avLst/>
          </a:prstGeom>
          <a:solidFill>
            <a:srgbClr val="FDF2E4"/>
          </a:solidFill>
          <a:ln w="28575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0" y="203835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イワタニ エコプレミアムIII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32410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本体 33.4 × 27.4cm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281940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E2E33"/>
                </a:solidFill>
                <a:latin typeface="Yu Gothic UI"/>
              </a:rPr>
              <a:t>墨貫入 10号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10515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A8410F"/>
                </a:solidFill>
                <a:latin typeface="Yu Gothic UI"/>
              </a:rPr>
              <a:t>幅（取手込）36cm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5500" y="3486150"/>
            <a:ext cx="4572000" cy="628650"/>
          </a:xfrm>
          <a:prstGeom prst="roundRect">
            <a:avLst>
              <a:gd name="adj" fmla="val 6000"/>
            </a:avLst>
          </a:prstGeom>
          <a:solidFill>
            <a:srgbClr val="FDF2E4"/>
          </a:soli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3676650"/>
            <a:ext cx="4191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A8410F"/>
                </a:solidFill>
                <a:latin typeface="Yu Gothic UI"/>
              </a:rPr>
              <a:t>左右に 1.3cm ずつはみ出す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305300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はみ出しても五徳に乗れば使えます。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572000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効くのは「卓上で必要な幅」のほうです。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号数ではなく、取手込みの幅で決まります。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「180」でも足を置けるのは 1.40m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長谷川工業 RHB-18a ／ 横から見た図 ／ 踏ざんは省略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型番より低い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40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556510"/>
            <a:ext cx="1905000" cy="2396490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8250" y="2979420"/>
            <a:ext cx="2286000" cy="3810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752600"/>
            <a:ext cx="4762500" cy="59055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186690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型番の数字 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2133600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開いた状態の高さではありません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438400"/>
            <a:ext cx="4762500" cy="59055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00" y="255270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天板の高さ 1.70m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2819400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乗ることは禁止されています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124200"/>
            <a:ext cx="4762500" cy="590550"/>
          </a:xfrm>
          <a:prstGeom prst="roundRect">
            <a:avLst>
              <a:gd name="adj" fmla="val 6000"/>
            </a:avLst>
          </a:prstGeom>
          <a:solidFill>
            <a:srgbClr val="FDF2E4"/>
          </a:soli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323850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A8410F"/>
                </a:solidFill>
                <a:latin typeface="Yu Gothic UI"/>
              </a:rPr>
              <a:t>使用最大高さ 1.40m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3505200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足を置けるのはここまで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4133850"/>
            <a:ext cx="4762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型番の数字より 40cm 低い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4419600"/>
            <a:ext cx="4762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RHB は5サイズすべてこの差でした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0" y="46863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BSA-A と SEC-S の仕様表にはこの欄がありません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型番の数字は、足を置ける高さではありません。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0.8m前後に立つのに 2.5kg と 7.6kg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踏台は天板高さ、脚立は使用最大高さでそろえています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重さの差は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3.0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67640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266950"/>
            <a:ext cx="10439400" cy="5143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85750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448050"/>
            <a:ext cx="10439400" cy="5143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03860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629150"/>
            <a:ext cx="10439400" cy="5143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629150"/>
            <a:ext cx="47625" cy="5143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95750" y="1809750"/>
            <a:ext cx="185737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17526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アルインコ CCA-80K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19812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 ／ 0.79m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7425" y="18097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2.5kg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5750" y="2400300"/>
            <a:ext cx="193167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23431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 SE-8a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25717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 ／ 0.79m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1720" y="24003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2.6kg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0" y="2990850"/>
            <a:ext cx="282321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29337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アルインコ TBF-4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1623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踏台（上わく付き）／ 0.77m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3260" y="29908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3.8kg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95750" y="3581400"/>
            <a:ext cx="326898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35242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 EFA-08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50" y="37528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踏台（上わく付き）／ 0.79m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030" y="35814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4.4kg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95750" y="4171950"/>
            <a:ext cx="3343275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411480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 RHB-12a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" y="434340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はしご兼用脚立 ／ 0.80m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3325" y="417195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4.5kg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95750" y="4762500"/>
            <a:ext cx="564642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47053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長谷川 SWH-12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50" y="4933950"/>
            <a:ext cx="333375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強力型脚立 ／ 0.90m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6470" y="4762500"/>
            <a:ext cx="1047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7.6kg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いちばん軽い2.5kgと、いちばん重い7.6kgで3.0倍の差があります。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階段では前脚と後脚が3段離れます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踏面15cm・蹴上げ23cm（住宅の法定の限界値）／ 脚立の設置奥行 55.2cm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足りない分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38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7750" y="3870960"/>
            <a:ext cx="476250" cy="72009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4950" y="3169920"/>
            <a:ext cx="476250" cy="72009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2150" y="2468880"/>
            <a:ext cx="476250" cy="72009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9350" y="1767840"/>
            <a:ext cx="476250" cy="720090"/>
          </a:xfrm>
          <a:prstGeom prst="rect">
            <a:avLst/>
          </a:prstGeom>
          <a:solidFill>
            <a:srgbClr val="F2F5F8"/>
          </a:solidFill>
          <a:ln w="19050">
            <a:solidFill>
              <a:srgbClr val="DAE7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468880"/>
            <a:ext cx="47625" cy="2103120"/>
          </a:xfrm>
          <a:prstGeom prst="rect">
            <a:avLst/>
          </a:prstGeom>
          <a:solidFill>
            <a:srgbClr val="A841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2164080"/>
            <a:ext cx="1905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A8410F"/>
                </a:solidFill>
                <a:latin typeface="Yu Gothic UI"/>
              </a:rPr>
              <a:t>69cm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8500" y="3627120"/>
            <a:ext cx="47625" cy="94488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2800" y="3322320"/>
            <a:ext cx="1905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014172"/>
                </a:solidFill>
                <a:latin typeface="Yu Gothic UI"/>
              </a:rPr>
              <a:t>31cm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1866900"/>
            <a:ext cx="4762500" cy="742950"/>
          </a:xfrm>
          <a:prstGeom prst="roundRect">
            <a:avLst>
              <a:gd name="adj" fmla="val 6000"/>
            </a:avLst>
          </a:prstGeom>
          <a:solidFill>
            <a:srgbClr val="FDF2E4"/>
          </a:solidFill>
          <a:ln w="19050">
            <a:solidFill>
              <a:srgbClr val="A841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203835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A8410F"/>
                </a:solidFill>
                <a:latin typeface="Yu Gothic UI"/>
              </a:rPr>
              <a:t>必要な高低差 69cm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2324100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3段離れる × 蹴上げ23cm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3500" y="2781300"/>
            <a:ext cx="4762500" cy="74295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2952750"/>
            <a:ext cx="4381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2E33"/>
                </a:solidFill>
                <a:latin typeface="Yu Gothic UI"/>
              </a:rPr>
              <a:t>伸縮脚で調整できるのは 31cm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3238500"/>
            <a:ext cx="4381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ピカ スタッピー SXJ-90A の公表値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3810000"/>
            <a:ext cx="43815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A8410F"/>
                </a:solidFill>
                <a:latin typeface="Yu Gothic UI"/>
              </a:rPr>
              <a:t>38cm 足りません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41910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踏面が広い階段でも2段離れるので、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4457700"/>
            <a:ext cx="4953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必要なのは32cm以上でした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伸縮脚では、住宅の階段の高低差に届きません。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天板は同じでも足場の高さが違う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横から見た図 ／ 同じ0.8m前後の2製品を並べています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脚立で立てるのは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0.50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3370421"/>
            <a:ext cx="1619250" cy="1392079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9250" y="2295525"/>
            <a:ext cx="1238250" cy="1074896"/>
          </a:xfrm>
          <a:prstGeom prst="rect">
            <a:avLst/>
          </a:prstGeom>
          <a:noFill/>
          <a:ln w="19050">
            <a:solidFill>
              <a:srgbClr val="01417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1990725"/>
            <a:ext cx="2857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>
                <a:solidFill>
                  <a:srgbClr val="6A717B"/>
                </a:solidFill>
                <a:latin typeface="Yu Gothic UI"/>
              </a:rPr>
              <a:t>全高 1.40m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8500" y="2894648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上わく ＋61cm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8500" y="3370421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2E2E33"/>
                </a:solidFill>
                <a:latin typeface="Yu Gothic UI"/>
              </a:rPr>
              <a:t>天板 0.79m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8750" y="48577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踏台（上わく付き）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50" y="50673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長谷川工業 EFA-08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0" y="3335179"/>
            <a:ext cx="1619250" cy="1427321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F2F5F8"/>
              </a:gs>
              <a:gs pos="100000">
                <a:srgbClr val="F2F5F8"/>
              </a:gs>
            </a:gsLst>
            <a:lin scaled="0" ang="16200000"/>
          </a:gradFill>
          <a:ln w="19050">
            <a:solidFill>
              <a:srgbClr val="6A71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67500" y="3881438"/>
            <a:ext cx="1619250" cy="881062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7250" y="3335179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A717B"/>
                </a:solidFill>
                <a:latin typeface="Yu Gothic UI"/>
              </a:rPr>
              <a:t>天板 0.81m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0" y="3881438"/>
            <a:ext cx="238125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014172"/>
                </a:solidFill>
                <a:latin typeface="Yu Gothic UI"/>
              </a:rPr>
              <a:t>使用最大 0.50m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48577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はしご兼用脚立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5067300"/>
            <a:ext cx="3048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長谷川工業 RHB-09a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天板は0.79mと0.81m。足を置ける高さは0.79mと0.50mに分かれます。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0007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00" cy="15049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61950"/>
            <a:ext cx="74295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 UI"/>
              </a:rPr>
              <a:t>中身を入れると何kgになる？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7429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>
                <a:solidFill>
                  <a:srgbClr val="DAE7F2"/>
                </a:solidFill>
                <a:latin typeface="Yu Gothic UI"/>
              </a:rPr>
              <a:t>濃い色が自重（メーカー公表）、薄い色まで伸びると満載の上限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5800" y="247650"/>
            <a:ext cx="2514600" cy="10096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63500" dir="5400000" rotWithShape="0">
              <a:srgbClr val="0B2B45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15350" y="400050"/>
            <a:ext cx="21336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" b="0">
                <a:solidFill>
                  <a:srgbClr val="6A717B"/>
                </a:solidFill>
                <a:latin typeface="Yu Gothic UI"/>
              </a:rPr>
              <a:t>80Lは満載で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647700"/>
            <a:ext cx="21336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014172"/>
                </a:solidFill>
                <a:latin typeface="Yu Gothic UI"/>
              </a:rPr>
              <a:t>91</a:t>
            </a:r>
            <a:r>
              <a:rPr sz="1950" b="1">
                <a:solidFill>
                  <a:srgbClr val="014172"/>
                </a:solidFill>
                <a:latin typeface="Yu Gothic UI"/>
              </a:rPr>
              <a:t>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" y="173355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2324100"/>
            <a:ext cx="10439400" cy="5143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" y="291465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" y="3505200"/>
            <a:ext cx="10439400" cy="51435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300" y="4095750"/>
            <a:ext cx="10439400" cy="51435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300" y="4686300"/>
            <a:ext cx="10439400" cy="51435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300" y="4686300"/>
            <a:ext cx="47625" cy="514350"/>
          </a:xfrm>
          <a:prstGeom prst="rect">
            <a:avLst/>
          </a:prstGeom>
          <a:solidFill>
            <a:srgbClr val="014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76750" y="1866900"/>
            <a:ext cx="1249204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76750" y="1866900"/>
            <a:ext cx="87154" cy="2667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" y="180975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ロゴス ハイパー氷点下クーラーL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203835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20L ／ 自重 1.5kg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0254" y="1866900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21.5kg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6750" y="2457450"/>
            <a:ext cx="703040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76750" y="2457450"/>
            <a:ext cx="122015" cy="2667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24003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クールラインα3 S1000X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262890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10L ／ 自重 2.1kg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090" y="2457450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12.1kg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6750" y="3048000"/>
            <a:ext cx="1377029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76750" y="3048000"/>
            <a:ext cx="214979" cy="2667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299085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クールラインα3 S2000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50" y="321945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20L ／ 自重 3.7kg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8079" y="3048000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23.7kg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76750" y="3638550"/>
            <a:ext cx="3096863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76750" y="3638550"/>
            <a:ext cx="366046" cy="2667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35814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コールマン 50QT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" y="381000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約47L ／ 自重 6.3kg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7913" y="3638550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53.3kg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76750" y="4229100"/>
            <a:ext cx="3735991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76750" y="4229100"/>
            <a:ext cx="366046" cy="2667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850" y="417195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コールマン 62QT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850" y="440055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約58L ／ 自重 6.3kg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7041" y="4229100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64.3kg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76750" y="4819650"/>
            <a:ext cx="5287328" cy="2667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EF4F9"/>
              </a:gs>
              <a:gs pos="100000">
                <a:srgbClr val="DAE7F2"/>
              </a:gs>
            </a:gsLst>
            <a:lin scaled="0" ang="16200000"/>
          </a:gradFill>
          <a:ln w="19050">
            <a:solidFill>
              <a:srgbClr val="0141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76750" y="4819650"/>
            <a:ext cx="639127" cy="2667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B5C99"/>
              </a:gs>
              <a:gs pos="100000">
                <a:srgbClr val="01417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850" y="4762500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2E33"/>
                </a:solidFill>
                <a:latin typeface="Yu Gothic UI"/>
              </a:rPr>
              <a:t>ダイワ トランクマスターHD III 8000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" y="4991100"/>
            <a:ext cx="3619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80L ／ 自重 11.0kg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8377" y="4819650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14172"/>
                </a:solidFill>
                <a:latin typeface="Yu Gothic UI"/>
              </a:rPr>
              <a:t>91.0kg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5295900"/>
            <a:ext cx="102108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600" y="5429250"/>
            <a:ext cx="72390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1">
                <a:solidFill>
                  <a:srgbClr val="2E2E33"/>
                </a:solidFill>
                <a:latin typeface="Yu Gothic UI"/>
              </a:rPr>
              <a:t>自重がいちばん軽い1.5kgの製品が、満載では21.5kgになります。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5676900"/>
            <a:ext cx="76200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A717B"/>
                </a:solidFill>
                <a:latin typeface="Yu Gothic UI"/>
              </a:rPr>
              <a:t>メーカー公表値からの計算です（実測ではありません）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62900" y="5676900"/>
            <a:ext cx="28575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0">
                <a:solidFill>
                  <a:srgbClr val="6A717B"/>
                </a:solidFill>
                <a:latin typeface="Yu Gothic UI"/>
              </a:rPr>
              <a:t>寸法で選ぶ　sunpou.nexeed-lab.com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