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同じ40Lで、1〜2泊 から 4泊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6社の公表目安を横に並べたもの。棒の左端が最短、右端が最長の泊数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40Lの目安の開き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1泊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2泊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3泊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4泊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5泊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9050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4574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0099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5623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1148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46672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0097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0097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Legend Walker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5050" y="20097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1〜2泊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350" y="20288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27〜41Lの帯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0750" y="25622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5622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5622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100" y="25812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30〜49Lの帯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00750" y="31146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1146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ニトリ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1146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31337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40L製品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00750" y="36671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6671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無印良品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6671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6861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36L製品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42195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2195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RIMOWA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2550" y="42195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3〜4泊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850" y="42386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36〜37L製品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1575" y="4772025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850" y="47720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サムソナイト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9225" y="47720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525" y="47910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1泊＝10Lで計算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泊数は容量から決まらず、社ごとの目安です。60L以上は各社4〜7泊に収まります。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メーカー公表の目安です（実測ではありません）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開口100cmは、本体では届かない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公表の取付幅レンジに当てると、カトージは外れ、日本育児はワイドS側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カトージの最大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9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81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2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4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5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4950" y="1714500"/>
            <a:ext cx="19050" cy="27432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4384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10515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10515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7719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2405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日本育児（本体）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67〜91cm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19240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本体では届かない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259080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5527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日本育児＋ワイドS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003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91〜115cm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0" y="2590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ワイドパネルS側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3257550"/>
            <a:ext cx="16002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2194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カトージ LDK-STYLEⅡ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4671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〜95cm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3500" y="32575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最大95で外れる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3924300"/>
            <a:ext cx="7429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8862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リッチェル＋拡張1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41338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91〜104cm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785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拡張1本側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「対応幅」見出しではなく、パーツごとの取付幅レンジで判定します。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全列○は PROTECA 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メーカー外寸を ANA/JAL・100席未満・Peach・Jetstar 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ANA/JALの和上限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≥100席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＜100席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Peach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Jetstar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18669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2381250"/>
            <a:ext cx="10439400" cy="4381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81250"/>
            <a:ext cx="47625" cy="4381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956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09950"/>
            <a:ext cx="10439400" cy="4381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243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9812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24955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22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957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22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05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957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40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22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386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57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22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05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「機内持ち込み対応」でも、Jetstarと100席未満で落ちる製品が多いです。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3辺和の差は 6〜11cm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公式併記の本体サイズと外寸／全体。差の主因は高さ（キャスター＋ハンドル）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769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13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0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00500" y="1905000"/>
            <a:ext cx="2743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9050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6cm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00500" y="2457450"/>
            <a:ext cx="3657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ポケットライナー2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4574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5029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099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11cm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0500" y="3562350"/>
            <a:ext cx="4572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5623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10cm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00500" y="4114800"/>
            <a:ext cx="4114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1148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9cm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判定に使うのは外寸／全体（キャスター・ハンドル込み）。本体サイズではありません。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拡張で増えるのは奥行だけ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高さ・幅は0。3辺和の増分も奥行と同じ 4〜7cm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いちばん大きい増分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2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00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 CRUZBOX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19240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114→118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フレスターEX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4750" y="24765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クレスタ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1800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4750" y="30289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56235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5109-46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8550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+5cm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0" y="35814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11480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5525-48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205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41338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機内持ち込み帯（114〜115）は拡張後118〜122。預け入れ天井帯も超え得ます。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同じ157帯でも 68L〜100L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総外寸158cm以内は預け入れの帯。容量（L）の代理ではありません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157帯の上限側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100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722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85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647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10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2457450"/>
            <a:ext cx="170021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5516-70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4512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81L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009900"/>
            <a:ext cx="2185988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5528-70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10288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87L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562350"/>
            <a:ext cx="2752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Samsonite シーライト75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7025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94L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10000" y="4114800"/>
            <a:ext cx="3238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80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100L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151cmの68Lから158cmの100Lまで。総外寸が近くても容量は約1.5倍開きます。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機内持込級は、特大の手前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東海道・山陽・九州・西九州の特大荷物は3辺和160cm超。照合5製品はすべて以下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特大のしきい値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160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8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0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2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4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050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1905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457450"/>
            <a:ext cx="342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457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99cm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009900"/>
            <a:ext cx="9144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009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114cm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3562350"/>
            <a:ext cx="1066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0100" y="35623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118cm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41148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5800" y="41148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航空機では落ちる外寸でも、新幹線の160までは余裕があります。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レール195cmは、幅100×2不足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必要仕上がり幅＝レール×1.05。合計200の既製両開きに当てた結果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幅100×2の限界超え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1714500"/>
            <a:ext cx="19050" cy="2838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1543050"/>
            <a:ext cx="10477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014172"/>
                </a:solidFill>
                <a:latin typeface="Yu Gothic UI"/>
              </a:rPr>
              <a:t>既製合計200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42900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29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レール170cm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19050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必要178.5 → 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2457450"/>
            <a:ext cx="1447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レール180cm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1100" y="24574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必要189 → 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3009900"/>
            <a:ext cx="2247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レール190cm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200" y="30099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必要199.5 → 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562350"/>
            <a:ext cx="265176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レール195cm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5060" y="35623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必要204.8 → 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114800"/>
            <a:ext cx="3048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レール200cm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1300" y="41148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必要210 → 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丈は床ルール次第。ニトリ式（床−1）と無印式（床−2）で178／200の向きが分かれます。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450mmすき間に入る幅は限られる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想定すき間幅450mmに、公表の本体幅Wを当てた結果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いちばん細い本体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9188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938" y="1543050"/>
            <a:ext cx="1143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すき間450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905000"/>
            <a:ext cx="60245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NP-TH5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9812" y="1905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550mm × 450すき間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457450"/>
            <a:ext cx="51482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NP-TCR5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3512" y="24574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470mm × 450すき間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DWS-33B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5825" y="30099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0" y="356235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 ISHT-5000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5825" y="3562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4114800"/>
            <a:ext cx="33956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NP-TML1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0912" y="4114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310mm ○ 310幅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閉時奥行は全機種とも想定カウンター600mmに収まります。ドア全開奥行は機種で差が出ます。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奥行745mmで、余りは55mm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想定通路幅800mm − 本体奥行。曲がり角は含まない引き算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800mm通路の余り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62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87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800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55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10000" y="1905000"/>
            <a:ext cx="190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NR-C37WS2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600mm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200mm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10000" y="2457450"/>
            <a:ext cx="476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SJ-MF51R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630mm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0550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170mm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3009900"/>
            <a:ext cx="11334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699mm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777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0" y="3562350"/>
            <a:ext cx="15049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738mm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0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62mm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4114800"/>
            <a:ext cx="15716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745mm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59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55mm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容量Lではなく本体奥行で判定。メーカーの「幅＋約10cm」は直立搬入の別軸です。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扉は本体の横へ最大361mm出る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左右あきは各5mmで同じ。違うのは扉を開けたときの横張り出し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横張り出しの最大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905000"/>
            <a:ext cx="48139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8235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361mm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57450"/>
            <a:ext cx="40671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SJ-MF55R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730mm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475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305mm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0138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813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301mm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562350"/>
            <a:ext cx="358711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1415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269mm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114800"/>
            <a:ext cx="3133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R-HZC54Y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650mm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80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約235mm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壁際で扉が十分に開かないときは、壁から10〜20mm（機種による）。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800・900の有効奥行は546mm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TOTO洗濯機パンの有効奥行と、ドラム式の条件「奥行内寸540mm以上」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540mm条件に対する余り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6690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9555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242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242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75285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6000" y="1771650"/>
            <a:ext cx="19050" cy="25908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4500" y="1543050"/>
            <a:ext cx="13335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条件 540mm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10000" y="2038350"/>
            <a:ext cx="3810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1981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PWP640N2W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22098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640×640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4300" y="2038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580mm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667000"/>
            <a:ext cx="3810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609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PWP740N2W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8384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740×640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2667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580mm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3295650"/>
            <a:ext cx="2514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32385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PWP800N2W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34671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800×640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8900" y="32956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546mm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924300"/>
            <a:ext cx="2514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671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PWP900N2W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40957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900×640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890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546mm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有効寸法はTOTOの参考値。洗濯機側の条件は奥行内寸500〜540mm以上。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縦型の条件は507〜570mm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4社の「設置可能な防水パン（奥行内寸）」と、TOTO 800・900の有効奥行546mm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570mm条件に対する不足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66900"/>
            <a:ext cx="10439400" cy="3810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866900"/>
            <a:ext cx="47625" cy="3810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3241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7813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385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6957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1529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6101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1900" y="1771650"/>
            <a:ext cx="19050" cy="32766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8900" y="1543050"/>
            <a:ext cx="24765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TOTO 800・900 有効奥行 546mm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1981200"/>
            <a:ext cx="5143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19050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AW-10GM3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1240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622×639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7800" y="19621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570mm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2438400"/>
            <a:ext cx="4000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362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AW-12DPB6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5812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637×649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800" y="2419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550mm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2895600"/>
            <a:ext cx="4000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28194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ES-GV10L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384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600×597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4800" y="28765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550mm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3352800"/>
            <a:ext cx="34290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2766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NA-FA12V6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34956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637×694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6200" y="3333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540mm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10000" y="3810000"/>
            <a:ext cx="31432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3733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ES-GE5K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39528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565×540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6200" y="3790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535mm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10000" y="4267200"/>
            <a:ext cx="2857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41910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BW-X120M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44100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640×650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1800" y="42481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530mm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10000" y="4724400"/>
            <a:ext cx="15430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4648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ES-GE7K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8672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565×538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4705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507mm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有効寸法はTOTOの参考値。条件は各社の仕様ページ・カタログの公表値。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フタ全開時は1132〜1529mm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閉じた高さより242〜431mm高い。4社の寸法図から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閉じた高さとの最大差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431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524000"/>
            <a:ext cx="10439400" cy="4572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524000"/>
            <a:ext cx="47625" cy="4572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0574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5908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1242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6576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1910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7244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676400"/>
            <a:ext cx="3557111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10000" y="1676400"/>
            <a:ext cx="129921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581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AW-12DPB6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1809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閉じ1098 → 全開1529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1411" y="1638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1529mm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0" y="2209800"/>
            <a:ext cx="3295174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10000" y="2209800"/>
            <a:ext cx="123634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114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NA-FA12V6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343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閉じ1086 → 全開1479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9474" y="2171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1479mm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2743200"/>
            <a:ext cx="3216593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10000" y="2743200"/>
            <a:ext cx="958691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6479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AW-10DPB6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8765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閉じ1033 → 全開1464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40892" y="27051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1464mm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276600"/>
            <a:ext cx="2771299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10000" y="3276600"/>
            <a:ext cx="1189196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1813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BW-X120M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4099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閉じ1077 → 全開1379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5599" y="32385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1379mm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3810000"/>
            <a:ext cx="2462212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10000" y="3810000"/>
            <a:ext cx="1073944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37147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ES-SW11L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39433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閉じ1055 → 全開1320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6512" y="3771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1320mm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10000" y="4343400"/>
            <a:ext cx="1954054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10000" y="4343400"/>
            <a:ext cx="681038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4248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BW-G70M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476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閉じ980 → 全開1223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78354" y="4305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1223mm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10000" y="4876800"/>
            <a:ext cx="1477328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810000" y="4876800"/>
            <a:ext cx="2095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600" y="4781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600" y="5010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閉じ890 → 全開1132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01628" y="4838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1132mm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濃い棒が閉じた高さ、薄い棒がフタ全開時。数字はメーカー寸法図の公表値。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ドア開け時の奥行は973〜1259mm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外形奥行より373〜520mm前に出る。4社の寸法図から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外形奥行との最大差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520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524000"/>
            <a:ext cx="10439400" cy="4572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524000"/>
            <a:ext cx="47625" cy="4572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0574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5908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1242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6576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1910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7244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676400"/>
            <a:ext cx="433768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10000" y="1676400"/>
            <a:ext cx="136588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581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ES-X12C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1809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外形739 → 開け時1259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1985" y="1638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1259mm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0" y="2209800"/>
            <a:ext cx="414909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10000" y="2209800"/>
            <a:ext cx="132588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114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NA-LX129FL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343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外形732 → 開け時1226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73390" y="2171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1226mm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2743200"/>
            <a:ext cx="408622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10000" y="2743200"/>
            <a:ext cx="125158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6479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ES-12X2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8765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外形719 → 開け時1215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525" y="27051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1215mm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276600"/>
            <a:ext cx="385762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10000" y="3276600"/>
            <a:ext cx="12573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1813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TW-127XP5L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4099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外形720 → 開け時1175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81925" y="32385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1175mm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3810000"/>
            <a:ext cx="373189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10000" y="3810000"/>
            <a:ext cx="12573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37147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BD-STX130M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39433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外形720 → 開け時1153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56195" y="3771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1153mm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10000" y="4343400"/>
            <a:ext cx="349186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10000" y="4343400"/>
            <a:ext cx="76009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4248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TW-84GS5L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476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外形633 → 開け時1111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16165" y="4305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1111mm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10000" y="4876800"/>
            <a:ext cx="270319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810000" y="4876800"/>
            <a:ext cx="571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600" y="4781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ES-7S2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600" y="5010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外形600 → 開け時973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7495" y="4838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973mm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濃い棒が外形奥行、薄い棒がドア開け時の奥行。数字はメーカー寸法図の公表値。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手前の高さは826〜891mm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12kgより10kgが65mm低い。総外形との差は207mm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12kgと10kgの差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8763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24150"/>
            <a:ext cx="10439400" cy="8763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676650"/>
            <a:ext cx="10439400" cy="8763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76650"/>
            <a:ext cx="47625" cy="8763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95750" y="2038350"/>
            <a:ext cx="348329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38350"/>
            <a:ext cx="121586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1924050"/>
            <a:ext cx="3333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東芝 AW-12DPB6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2098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総外形1098mm → 手前891mm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3342" y="2019300"/>
            <a:ext cx="13335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891mm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990850"/>
            <a:ext cx="277129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095750" y="2990850"/>
            <a:ext cx="55864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876550"/>
            <a:ext cx="3333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東芝 AW-9DPB6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総外形1033mm → 手前831mm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1349" y="2971800"/>
            <a:ext cx="13335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831mm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943350"/>
            <a:ext cx="277129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95750" y="3943350"/>
            <a:ext cx="50387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3829050"/>
            <a:ext cx="3333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東芝 AW-10DPB6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1148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総外形1033mm → 手前826mm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1349" y="3924300"/>
            <a:ext cx="13335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826mm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濃い棒が手前の高さ、薄い棒が総外形高さ。差207mmは12kgと10kgで同じです。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640の内寸奥行は28mm違う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LIXILは618mm、パナソニックは590mm。800は584mmで一致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640同士の内寸奥行の差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81650" y="1752600"/>
            <a:ext cx="19050" cy="33909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7850" y="1562100"/>
            <a:ext cx="123825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条件570mm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1924050"/>
            <a:ext cx="386334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190500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LIXIL 640 PF-6464A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618mm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5750" y="2476500"/>
            <a:ext cx="2476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245745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640 GB724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0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590mm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3028950"/>
            <a:ext cx="217932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300990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LIXIL 800 PF-8064A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1500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584mm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581400"/>
            <a:ext cx="217932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356235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800 GB73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584mm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95750" y="4133850"/>
            <a:ext cx="990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400" y="411480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LIXIL 900 PF-9064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560mm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95750" y="4686300"/>
            <a:ext cx="2476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400" y="466725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900 GB731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0" y="46482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590mm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570mmの線は、奥行内寸570mm以上の条件です。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天板55mmで、上限50は外れる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公表クランプ可能厚に天板厚を当てる。耐荷重やインチではない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サンワ50上限が外れる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4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19875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4125" y="1543050"/>
            <a:ext cx="762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天板55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19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CR-LAC1405BK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1750" y="19050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9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CR-LAC116BK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750" y="24574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500" y="300990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Ergotron LX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0" y="30099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10〜60mm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9500" y="356235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エレコム DPA-SN01BK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0" y="35623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10〜80mm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86250" y="41148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HUANUO SS43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2075" y="41148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20〜89mm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○は天板厚が公表クランプ可能厚レンジに入るときだけです。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Lは高いが、奥行は浅い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カーメイト バイアスロンのケース外寸。品番が大きい＝全部が大きい、ではない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LがMより浅い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高さ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33500" y="2000250"/>
            <a:ext cx="3429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26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124mm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3500" y="2667000"/>
            <a:ext cx="6000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977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139mm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33500" y="3333750"/>
            <a:ext cx="10972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698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168mm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幅 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1500" y="2000250"/>
            <a:ext cx="1047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00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475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524mm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266700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0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1056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1500" y="333375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00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1056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奥行 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29500" y="2000250"/>
            <a:ext cx="266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8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29500" y="2667000"/>
            <a:ext cx="4667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8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242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431mm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3333750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905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381mm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ヤリス公表荷室（長630×幅1,000×高692）には S／M／Lいずれも1ケースは収まります。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同じ9号でも、容量は1.45倍ちがう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銀峯陶器18製品の公表値。濃い色が下限、薄い色までが号数ごとのはば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9号のなかで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09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765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1000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1000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76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81250" y="1962150"/>
            <a:ext cx="109728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81250" y="1962150"/>
            <a:ext cx="73152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962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1962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0.6〜0.9ℓ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1962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1人前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81250" y="2628900"/>
            <a:ext cx="1828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81250" y="2628900"/>
            <a:ext cx="12192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6289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1.0〜1.5ℓ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26289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1〜2人前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81250" y="3295650"/>
            <a:ext cx="26822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81250" y="3295650"/>
            <a:ext cx="18288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956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32956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1.5〜2.2ℓ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0" y="32956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1〜3人前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81250" y="3962400"/>
            <a:ext cx="39014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1250" y="3962400"/>
            <a:ext cx="268224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624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0" y="39624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2.2〜3.2ℓ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500" y="39624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2〜5人前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81250" y="4629150"/>
            <a:ext cx="4876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81250" y="4629150"/>
            <a:ext cx="353568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0" y="4629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2.9〜4.0ℓ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4629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3〜6人前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号数が決めているのは口径だけで、容量と人数は決めていません。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同じ9号で、2〜3人前 と 4〜5人前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銀峯陶器の公表値。口径の差は0.5cmしかありません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667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66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479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90900"/>
            <a:ext cx="10439400" cy="6667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1338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2076450"/>
            <a:ext cx="22002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002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墨貫入 9号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高さ15cm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20764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2.2ℓ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0" y="20764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2〜3人前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500" y="2819400"/>
            <a:ext cx="2700338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7432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9号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009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高さ15.5cm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4188" y="28194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2.7ℓ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28194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3〜4人前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562350"/>
            <a:ext cx="30003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4861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深型 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7528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高さ17cm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4225" y="35623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3.0ℓ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35623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00500" y="4305300"/>
            <a:ext cx="3200400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42291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花三島 9号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50" y="44958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高さ16cm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4250" y="43053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3.2ℓ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3053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口径が同じでも、深さが違えば入る量が変わります。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足を置ける高さ0.5〜0.6m（伸縮脚付きは除く）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33製品中9つ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